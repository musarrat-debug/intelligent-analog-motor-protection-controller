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3" r:id="rId5"/>
    <p:sldId id="274" r:id="rId6"/>
    <p:sldId id="262" r:id="rId7"/>
    <p:sldId id="261" r:id="rId8"/>
    <p:sldId id="279" r:id="rId9"/>
    <p:sldId id="268" r:id="rId10"/>
    <p:sldId id="275" r:id="rId11"/>
    <p:sldId id="276" r:id="rId12"/>
    <p:sldId id="278" r:id="rId13"/>
    <p:sldId id="277" r:id="rId14"/>
    <p:sldId id="267" r:id="rId15"/>
    <p:sldId id="280" r:id="rId16"/>
    <p:sldId id="281" r:id="rId17"/>
    <p:sldId id="272" r:id="rId18"/>
    <p:sldId id="271" r:id="rId19"/>
    <p:sldId id="282" r:id="rId20"/>
    <p:sldId id="270" r:id="rId21"/>
    <p:sldId id="273" r:id="rId22"/>
    <p:sldId id="283" r:id="rId23"/>
    <p:sldId id="259"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DEC9E-28CF-1D8C-C780-897FE6CE9C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69EF1B-0BB3-DF25-604B-3C3FB9973A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3070F3-757D-A7D2-6B19-EBDEE4A7CFE1}"/>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5" name="Footer Placeholder 4">
            <a:extLst>
              <a:ext uri="{FF2B5EF4-FFF2-40B4-BE49-F238E27FC236}">
                <a16:creationId xmlns:a16="http://schemas.microsoft.com/office/drawing/2014/main" id="{B42E9038-9CE4-622A-482D-A06165C08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BE4A31-2E93-0B5A-85B1-3A8CCA311821}"/>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263884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2985E-79AB-1D34-20AB-32A96FA071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1DA2B8-0FF1-A5FE-F79E-D8864E774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9421B3-606F-D46D-FD89-47D5EAF621C8}"/>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5" name="Footer Placeholder 4">
            <a:extLst>
              <a:ext uri="{FF2B5EF4-FFF2-40B4-BE49-F238E27FC236}">
                <a16:creationId xmlns:a16="http://schemas.microsoft.com/office/drawing/2014/main" id="{014AE921-5392-4DF1-AE42-7C5DAE720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D92946-446B-1FDA-E9E9-BD4A1F998D93}"/>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783707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06FC-24C7-AD78-9885-1CE7454C75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A467C0-ECE0-B4C6-C4F7-3CF5DEF0A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A8A039-81F9-7A43-73FA-2DD40EF5DD96}"/>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5" name="Footer Placeholder 4">
            <a:extLst>
              <a:ext uri="{FF2B5EF4-FFF2-40B4-BE49-F238E27FC236}">
                <a16:creationId xmlns:a16="http://schemas.microsoft.com/office/drawing/2014/main" id="{3F70AACB-B82E-A51E-D05B-A6B80847F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CC1FC-0DEB-EB29-8DB6-B74784DCC375}"/>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2394332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207B-818C-4397-B3F0-44425FE635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96A90E-0668-FF1B-CEDA-328FA83B03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374EFD-BA17-0774-CD31-D17F62A004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2B0DF9-C63C-D9B4-B8BB-ACCF62C58BEF}"/>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6" name="Footer Placeholder 5">
            <a:extLst>
              <a:ext uri="{FF2B5EF4-FFF2-40B4-BE49-F238E27FC236}">
                <a16:creationId xmlns:a16="http://schemas.microsoft.com/office/drawing/2014/main" id="{F2119D9A-8FF0-50F4-9762-08B88336FE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32DD2C-7DC7-0F3E-2579-DCA6D628D138}"/>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652439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2F663-C83C-FDC0-1879-14EC5CA998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4E14F0-89E8-0065-8FDD-D8F79011D7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1D0E51-302E-7B28-1A7B-8DF1CF48EE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9B3BDF-7FCA-9517-8DA9-064AC6C017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324886-DA95-3549-2BE6-F978A97162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5BFD60-58FD-4C91-22CF-471351D6D90A}"/>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8" name="Footer Placeholder 7">
            <a:extLst>
              <a:ext uri="{FF2B5EF4-FFF2-40B4-BE49-F238E27FC236}">
                <a16:creationId xmlns:a16="http://schemas.microsoft.com/office/drawing/2014/main" id="{F431D33E-F2E9-E231-059B-A38AA85D57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53E58E-BD5A-1B4A-1C54-4BF6B76DA7D5}"/>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1778037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DB52-D873-0F26-6DC9-4BD3EB9514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61F094-19E1-2F07-3BA7-42FD17C0E664}"/>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4" name="Footer Placeholder 3">
            <a:extLst>
              <a:ext uri="{FF2B5EF4-FFF2-40B4-BE49-F238E27FC236}">
                <a16:creationId xmlns:a16="http://schemas.microsoft.com/office/drawing/2014/main" id="{6313A0DB-A95F-8447-321C-91C0FDB2A7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211EBA-B0FA-5E2F-1A31-02A75798A795}"/>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269481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09BB3A-2289-9486-1521-B62D92CFDAA8}"/>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3" name="Footer Placeholder 2">
            <a:extLst>
              <a:ext uri="{FF2B5EF4-FFF2-40B4-BE49-F238E27FC236}">
                <a16:creationId xmlns:a16="http://schemas.microsoft.com/office/drawing/2014/main" id="{4519CA86-D3F0-81DE-D899-46B9AAFABA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4A905B-4935-72D8-6F7D-BBAA79A65BF5}"/>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868774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B093F-4B07-A6A5-A87B-980F4582A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BAB30C-7CC7-FA50-86C0-696F906EF5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4F59D0-0B7D-1B8F-6B16-41F52604DE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98C265-AF43-1D7B-0F3D-9CF9D8C7DE9F}"/>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6" name="Footer Placeholder 5">
            <a:extLst>
              <a:ext uri="{FF2B5EF4-FFF2-40B4-BE49-F238E27FC236}">
                <a16:creationId xmlns:a16="http://schemas.microsoft.com/office/drawing/2014/main" id="{585CA05A-437B-8A25-0DAE-7C9F529EAD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847FD1-518B-1757-95F1-412F4F575E84}"/>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3237440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74F72-613B-118D-47DF-616A65EBC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157210-E37D-196A-8963-B22C8C29EB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25CAF9-0D50-BF15-0273-C946195C7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39A27-F2EF-A8C8-9AB1-78600042B5E6}"/>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6" name="Footer Placeholder 5">
            <a:extLst>
              <a:ext uri="{FF2B5EF4-FFF2-40B4-BE49-F238E27FC236}">
                <a16:creationId xmlns:a16="http://schemas.microsoft.com/office/drawing/2014/main" id="{449F2E3E-54E2-5605-485D-95AC153D9B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5AA7A7-56DF-159F-325E-2EBF86593651}"/>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543511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76C44-F9BD-0A0A-B204-6F7E2C6DBE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F752B3-CF04-CDCE-299F-56B98CDDF4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9DE416-F014-DD78-36CD-13DA304358E3}"/>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5" name="Footer Placeholder 4">
            <a:extLst>
              <a:ext uri="{FF2B5EF4-FFF2-40B4-BE49-F238E27FC236}">
                <a16:creationId xmlns:a16="http://schemas.microsoft.com/office/drawing/2014/main" id="{0F6DEDBF-1AC5-D6A4-F3C6-61D583835C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9C1FA-3EF7-8EFD-F8A7-B1EE351032D9}"/>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2438950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828E84-DA81-A6C0-02F1-E540876A4E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79D4CD-DA87-48D7-E58D-0AA488351B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4C59F-97E7-F8C8-1AFF-A1EA873E8ECE}"/>
              </a:ext>
            </a:extLst>
          </p:cNvPr>
          <p:cNvSpPr>
            <a:spLocks noGrp="1"/>
          </p:cNvSpPr>
          <p:nvPr>
            <p:ph type="dt" sz="half" idx="10"/>
          </p:nvPr>
        </p:nvSpPr>
        <p:spPr/>
        <p:txBody>
          <a:bodyPr/>
          <a:lstStyle/>
          <a:p>
            <a:fld id="{54761508-E1C0-49DB-94F5-183742FF672C}" type="datetimeFigureOut">
              <a:rPr lang="en-US" smtClean="0"/>
              <a:t>18-Sep-26</a:t>
            </a:fld>
            <a:endParaRPr lang="en-US"/>
          </a:p>
        </p:txBody>
      </p:sp>
      <p:sp>
        <p:nvSpPr>
          <p:cNvPr id="5" name="Footer Placeholder 4">
            <a:extLst>
              <a:ext uri="{FF2B5EF4-FFF2-40B4-BE49-F238E27FC236}">
                <a16:creationId xmlns:a16="http://schemas.microsoft.com/office/drawing/2014/main" id="{657C665B-2501-4A82-22B2-94FED58853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254D5-B46B-0498-D599-A7B518352400}"/>
              </a:ext>
            </a:extLst>
          </p:cNvPr>
          <p:cNvSpPr>
            <a:spLocks noGrp="1"/>
          </p:cNvSpPr>
          <p:nvPr>
            <p:ph type="sldNum" sz="quarter" idx="12"/>
          </p:nvPr>
        </p:nvSpPr>
        <p:spPr/>
        <p:txBody>
          <a:bodyPr/>
          <a:lstStyle/>
          <a:p>
            <a:fld id="{686728B1-C502-4921-9F07-AB7549AAA428}" type="slidenum">
              <a:rPr lang="en-US" smtClean="0"/>
              <a:t>‹#›</a:t>
            </a:fld>
            <a:endParaRPr lang="en-US"/>
          </a:p>
        </p:txBody>
      </p:sp>
    </p:spTree>
    <p:extLst>
      <p:ext uri="{BB962C8B-B14F-4D97-AF65-F5344CB8AC3E}">
        <p14:creationId xmlns:p14="http://schemas.microsoft.com/office/powerpoint/2010/main" val="2630223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10A65A-EDFF-AE66-E3D8-ECC82B75FA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1CBDB4-CE6B-A046-5DF8-A6F4D9309A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26ADB4-D4B0-850D-1697-9C20D4167B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761508-E1C0-49DB-94F5-183742FF672C}" type="datetimeFigureOut">
              <a:rPr lang="en-US" smtClean="0"/>
              <a:t>18-Sep-26</a:t>
            </a:fld>
            <a:endParaRPr lang="en-US"/>
          </a:p>
        </p:txBody>
      </p:sp>
      <p:sp>
        <p:nvSpPr>
          <p:cNvPr id="5" name="Footer Placeholder 4">
            <a:extLst>
              <a:ext uri="{FF2B5EF4-FFF2-40B4-BE49-F238E27FC236}">
                <a16:creationId xmlns:a16="http://schemas.microsoft.com/office/drawing/2014/main" id="{6A2A9BB4-7534-A374-3622-F48783365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3F54A7-4723-8A21-9BC0-49A93F0ABE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6728B1-C502-4921-9F07-AB7549AAA428}" type="slidenum">
              <a:rPr lang="en-US" smtClean="0"/>
              <a:t>‹#›</a:t>
            </a:fld>
            <a:endParaRPr lang="en-US"/>
          </a:p>
        </p:txBody>
      </p:sp>
    </p:spTree>
    <p:extLst>
      <p:ext uri="{BB962C8B-B14F-4D97-AF65-F5344CB8AC3E}">
        <p14:creationId xmlns:p14="http://schemas.microsoft.com/office/powerpoint/2010/main" val="3361591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9AA0FDC-210B-7E30-139C-96DEE0AF9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0578"/>
            <a:ext cx="12192000" cy="3801999"/>
          </a:xfrm>
          <a:prstGeom prst="rect">
            <a:avLst/>
          </a:prstGeom>
        </p:spPr>
      </p:pic>
      <p:sp>
        <p:nvSpPr>
          <p:cNvPr id="4" name="Rectangle 3">
            <a:extLst>
              <a:ext uri="{FF2B5EF4-FFF2-40B4-BE49-F238E27FC236}">
                <a16:creationId xmlns:a16="http://schemas.microsoft.com/office/drawing/2014/main" id="{FE4A3D9F-000A-C2CB-6D6E-646BED0B8470}"/>
              </a:ext>
            </a:extLst>
          </p:cNvPr>
          <p:cNvSpPr/>
          <p:nvPr/>
        </p:nvSpPr>
        <p:spPr>
          <a:xfrm>
            <a:off x="0" y="0"/>
            <a:ext cx="12202274" cy="183907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FC9EC8F-F1AA-A30B-1C88-78EFF169CE72}"/>
              </a:ext>
            </a:extLst>
          </p:cNvPr>
          <p:cNvSpPr txBox="1"/>
          <p:nvPr/>
        </p:nvSpPr>
        <p:spPr>
          <a:xfrm>
            <a:off x="2126751" y="350329"/>
            <a:ext cx="8575497" cy="1384995"/>
          </a:xfrm>
          <a:prstGeom prst="rect">
            <a:avLst/>
          </a:prstGeom>
          <a:noFill/>
        </p:spPr>
        <p:txBody>
          <a:bodyPr wrap="square" rtlCol="0">
            <a:spAutoFit/>
          </a:bodyPr>
          <a:lstStyle/>
          <a:p>
            <a:pPr algn="ctr"/>
            <a:r>
              <a:rPr lang="en-US" sz="2800" dirty="0">
                <a:solidFill>
                  <a:schemeClr val="bg1"/>
                </a:solidFill>
                <a:latin typeface="Arial" panose="020B0604020202020204" pitchFamily="34" charset="0"/>
                <a:ea typeface="Sans Serif Collection" panose="020B0502040504020204" pitchFamily="34" charset="0"/>
                <a:cs typeface="Arial" panose="020B0604020202020204" pitchFamily="34" charset="0"/>
              </a:rPr>
              <a:t>EEE 208 (S)  - Electronic Circuits II Laboratory</a:t>
            </a:r>
          </a:p>
          <a:p>
            <a:pPr algn="ctr"/>
            <a:r>
              <a:rPr lang="en-US" sz="2800" dirty="0">
                <a:solidFill>
                  <a:schemeClr val="bg1"/>
                </a:solidFill>
                <a:latin typeface="Arial" panose="020B0604020202020204" pitchFamily="34" charset="0"/>
                <a:ea typeface="Sans Serif Collection" panose="020B0502040504020204" pitchFamily="34" charset="0"/>
                <a:cs typeface="Arial" panose="020B0604020202020204" pitchFamily="34" charset="0"/>
              </a:rPr>
              <a:t>Jan 2026 Level-2 Term-II Section C</a:t>
            </a:r>
          </a:p>
          <a:p>
            <a:pPr algn="ctr"/>
            <a:r>
              <a:rPr lang="en-US" sz="2800" dirty="0">
                <a:solidFill>
                  <a:schemeClr val="bg1"/>
                </a:solidFill>
                <a:latin typeface="Arial" panose="020B0604020202020204" pitchFamily="34" charset="0"/>
                <a:ea typeface="Sans Serif Collection" panose="020B0502040504020204" pitchFamily="34" charset="0"/>
                <a:cs typeface="Arial" panose="020B0604020202020204" pitchFamily="34" charset="0"/>
              </a:rPr>
              <a:t>Final Project Demonstration</a:t>
            </a:r>
          </a:p>
        </p:txBody>
      </p:sp>
      <p:sp>
        <p:nvSpPr>
          <p:cNvPr id="13" name="TextBox 12">
            <a:extLst>
              <a:ext uri="{FF2B5EF4-FFF2-40B4-BE49-F238E27FC236}">
                <a16:creationId xmlns:a16="http://schemas.microsoft.com/office/drawing/2014/main" id="{1C59F52A-3623-230F-9E61-3DD6A74A0A29}"/>
              </a:ext>
            </a:extLst>
          </p:cNvPr>
          <p:cNvSpPr txBox="1"/>
          <p:nvPr/>
        </p:nvSpPr>
        <p:spPr>
          <a:xfrm>
            <a:off x="1630652" y="2132742"/>
            <a:ext cx="9372601" cy="1200329"/>
          </a:xfrm>
          <a:prstGeom prst="rect">
            <a:avLst/>
          </a:prstGeom>
          <a:noFill/>
        </p:spPr>
        <p:txBody>
          <a:bodyPr wrap="square">
            <a:spAutoFit/>
          </a:bodyPr>
          <a:lstStyle/>
          <a:p>
            <a:pPr algn="ctr"/>
            <a:r>
              <a:rPr lang="en-US" sz="2400" b="1" i="0" u="none" strike="noStrike" baseline="0" dirty="0">
                <a:latin typeface="Arial" panose="020B0604020202020204" pitchFamily="34" charset="0"/>
                <a:cs typeface="Arial" panose="020B0604020202020204" pitchFamily="34" charset="0"/>
              </a:rPr>
              <a:t>Design and Implementation of an Intelligent Analog Motor Protection Controller Using</a:t>
            </a:r>
          </a:p>
          <a:p>
            <a:pPr algn="ctr"/>
            <a:r>
              <a:rPr lang="en-US" sz="2400" b="1" i="0" u="none" strike="noStrike" baseline="0" dirty="0">
                <a:latin typeface="Arial" panose="020B0604020202020204" pitchFamily="34" charset="0"/>
                <a:cs typeface="Arial" panose="020B0604020202020204" pitchFamily="34" charset="0"/>
              </a:rPr>
              <a:t>Operational Amplifiers</a:t>
            </a:r>
            <a:endParaRPr lang="en-US" sz="2400" dirty="0">
              <a:latin typeface="Arial" panose="020B0604020202020204" pitchFamily="34" charset="0"/>
              <a:cs typeface="Arial" panose="020B0604020202020204" pitchFamily="34" charset="0"/>
            </a:endParaRPr>
          </a:p>
        </p:txBody>
      </p:sp>
      <p:sp>
        <p:nvSpPr>
          <p:cNvPr id="14" name="Subtitle 2">
            <a:extLst>
              <a:ext uri="{FF2B5EF4-FFF2-40B4-BE49-F238E27FC236}">
                <a16:creationId xmlns:a16="http://schemas.microsoft.com/office/drawing/2014/main" id="{27AFF19E-E70B-33B9-CDFF-9CA44BF4B14F}"/>
              </a:ext>
            </a:extLst>
          </p:cNvPr>
          <p:cNvSpPr txBox="1">
            <a:spLocks/>
          </p:cNvSpPr>
          <p:nvPr/>
        </p:nvSpPr>
        <p:spPr>
          <a:xfrm>
            <a:off x="4150761" y="3474453"/>
            <a:ext cx="4558416" cy="554843"/>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sz="2800" cap="small" dirty="0"/>
              <a:t>Submitted by – Group </a:t>
            </a:r>
            <a:r>
              <a:rPr lang="en-US" sz="2800" cap="small" dirty="0">
                <a:latin typeface="Century Gothic" panose="020B0502020202020204" pitchFamily="34" charset="0"/>
              </a:rPr>
              <a:t>02</a:t>
            </a:r>
            <a:endParaRPr lang="en-BD" sz="4400" cap="small" dirty="0"/>
          </a:p>
        </p:txBody>
      </p:sp>
      <p:sp>
        <p:nvSpPr>
          <p:cNvPr id="15" name="Rectangle 14">
            <a:extLst>
              <a:ext uri="{FF2B5EF4-FFF2-40B4-BE49-F238E27FC236}">
                <a16:creationId xmlns:a16="http://schemas.microsoft.com/office/drawing/2014/main" id="{423186D9-D4F0-D6D2-B463-F38932894218}"/>
              </a:ext>
            </a:extLst>
          </p:cNvPr>
          <p:cNvSpPr/>
          <p:nvPr/>
        </p:nvSpPr>
        <p:spPr>
          <a:xfrm>
            <a:off x="0" y="5657670"/>
            <a:ext cx="12192000" cy="120033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BUET White Icon. Bangladesh University of Engineering and Technology Logo on Transparent Background. png">
            <a:extLst>
              <a:ext uri="{FF2B5EF4-FFF2-40B4-BE49-F238E27FC236}">
                <a16:creationId xmlns:a16="http://schemas.microsoft.com/office/drawing/2014/main" id="{83B95AD8-6E1F-D202-B230-488D9A559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337" y="5640124"/>
            <a:ext cx="1200329" cy="120032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A397EB4-BEAD-F2DE-BF6A-B545F69DFA40}"/>
              </a:ext>
            </a:extLst>
          </p:cNvPr>
          <p:cNvSpPr txBox="1"/>
          <p:nvPr/>
        </p:nvSpPr>
        <p:spPr>
          <a:xfrm>
            <a:off x="2627216" y="5917227"/>
            <a:ext cx="9234234" cy="707886"/>
          </a:xfrm>
          <a:prstGeom prst="rect">
            <a:avLst/>
          </a:prstGeom>
          <a:noFill/>
        </p:spPr>
        <p:txBody>
          <a:bodyPr wrap="square" rtlCol="0">
            <a:spAutoFit/>
          </a:bodyPr>
          <a:lstStyle/>
          <a:p>
            <a:r>
              <a:rPr lang="en-US" sz="2000" dirty="0">
                <a:solidFill>
                  <a:schemeClr val="bg1"/>
                </a:solidFill>
                <a:latin typeface="Century Gothic (body)"/>
              </a:rPr>
              <a:t>BANGLADESH UNIVERSITY OF ENGINEERING AND TECHNOLOGY</a:t>
            </a:r>
          </a:p>
          <a:p>
            <a:r>
              <a:rPr lang="en-US" sz="2000" dirty="0">
                <a:solidFill>
                  <a:schemeClr val="bg1"/>
                </a:solidFill>
                <a:latin typeface="Century Gothic (body)"/>
              </a:rPr>
              <a:t>DEPARTMENT OF ELECTRICAL AND ELECTRONIC ENGINEERING</a:t>
            </a:r>
          </a:p>
        </p:txBody>
      </p:sp>
      <p:graphicFrame>
        <p:nvGraphicFramePr>
          <p:cNvPr id="17" name="Table 16">
            <a:extLst>
              <a:ext uri="{FF2B5EF4-FFF2-40B4-BE49-F238E27FC236}">
                <a16:creationId xmlns:a16="http://schemas.microsoft.com/office/drawing/2014/main" id="{640662C9-9F32-CC8A-AC4C-F53015BE4EF4}"/>
              </a:ext>
            </a:extLst>
          </p:cNvPr>
          <p:cNvGraphicFramePr>
            <a:graphicFrameLocks noGrp="1"/>
          </p:cNvGraphicFramePr>
          <p:nvPr>
            <p:extLst>
              <p:ext uri="{D42A27DB-BD31-4B8C-83A1-F6EECF244321}">
                <p14:modId xmlns:p14="http://schemas.microsoft.com/office/powerpoint/2010/main" val="294063542"/>
              </p:ext>
            </p:extLst>
          </p:nvPr>
        </p:nvGraphicFramePr>
        <p:xfrm>
          <a:off x="772453" y="4423230"/>
          <a:ext cx="11088997" cy="822960"/>
        </p:xfrm>
        <a:graphic>
          <a:graphicData uri="http://schemas.openxmlformats.org/drawingml/2006/table">
            <a:tbl>
              <a:tblPr firstRow="1" bandRow="1">
                <a:tableStyleId>{5C22544A-7EE6-4342-B048-85BDC9FD1C3A}</a:tableStyleId>
              </a:tblPr>
              <a:tblGrid>
                <a:gridCol w="3271666">
                  <a:extLst>
                    <a:ext uri="{9D8B030D-6E8A-4147-A177-3AD203B41FA5}">
                      <a16:colId xmlns:a16="http://schemas.microsoft.com/office/drawing/2014/main" val="394119419"/>
                    </a:ext>
                  </a:extLst>
                </a:gridCol>
                <a:gridCol w="2417635">
                  <a:extLst>
                    <a:ext uri="{9D8B030D-6E8A-4147-A177-3AD203B41FA5}">
                      <a16:colId xmlns:a16="http://schemas.microsoft.com/office/drawing/2014/main" val="1931758462"/>
                    </a:ext>
                  </a:extLst>
                </a:gridCol>
                <a:gridCol w="2699848">
                  <a:extLst>
                    <a:ext uri="{9D8B030D-6E8A-4147-A177-3AD203B41FA5}">
                      <a16:colId xmlns:a16="http://schemas.microsoft.com/office/drawing/2014/main" val="2410966186"/>
                    </a:ext>
                  </a:extLst>
                </a:gridCol>
                <a:gridCol w="2699848">
                  <a:extLst>
                    <a:ext uri="{9D8B030D-6E8A-4147-A177-3AD203B41FA5}">
                      <a16:colId xmlns:a16="http://schemas.microsoft.com/office/drawing/2014/main" val="3249089432"/>
                    </a:ext>
                  </a:extLst>
                </a:gridCol>
              </a:tblGrid>
              <a:tr h="655915">
                <a:tc>
                  <a:txBody>
                    <a:bodyPr/>
                    <a:lstStyle/>
                    <a:p>
                      <a:r>
                        <a:rPr lang="en-US" sz="2400" b="0" dirty="0">
                          <a:solidFill>
                            <a:schemeClr val="tx1"/>
                          </a:solidFill>
                          <a:latin typeface="Century Gothic (body)"/>
                          <a:cs typeface="Arial" panose="020B0604020202020204" pitchFamily="34" charset="0"/>
                        </a:rPr>
                        <a:t>A.H.M </a:t>
                      </a:r>
                      <a:r>
                        <a:rPr lang="en-US" sz="2400" b="0" dirty="0" err="1">
                          <a:solidFill>
                            <a:schemeClr val="tx1"/>
                          </a:solidFill>
                          <a:latin typeface="Century Gothic (body)"/>
                          <a:cs typeface="Arial" panose="020B0604020202020204" pitchFamily="34" charset="0"/>
                        </a:rPr>
                        <a:t>Mortuza</a:t>
                      </a:r>
                      <a:r>
                        <a:rPr lang="en-US" sz="2400" b="0" dirty="0">
                          <a:solidFill>
                            <a:schemeClr val="tx1"/>
                          </a:solidFill>
                          <a:latin typeface="Century Gothic (body)"/>
                          <a:cs typeface="Arial" panose="020B0604020202020204" pitchFamily="34" charset="0"/>
                        </a:rPr>
                        <a:t> Alam </a:t>
                      </a:r>
                    </a:p>
                    <a:p>
                      <a:r>
                        <a:rPr lang="en-US" sz="2400" b="1" dirty="0">
                          <a:solidFill>
                            <a:schemeClr val="tx1"/>
                          </a:solidFill>
                          <a:latin typeface="Century Gothic (body)"/>
                          <a:cs typeface="Arial" panose="020B0604020202020204" pitchFamily="34" charset="0"/>
                        </a:rPr>
                        <a:t>2306137</a:t>
                      </a:r>
                    </a:p>
                  </a:txBody>
                  <a:tcPr>
                    <a:noFill/>
                  </a:tcPr>
                </a:tc>
                <a:tc>
                  <a:txBody>
                    <a:bodyPr/>
                    <a:lstStyle/>
                    <a:p>
                      <a:r>
                        <a:rPr lang="en-US" sz="2400" b="0" dirty="0">
                          <a:solidFill>
                            <a:schemeClr val="tx1"/>
                          </a:solidFill>
                          <a:latin typeface="Century Gothic (body)"/>
                          <a:cs typeface="Arial" panose="020B0604020202020204" pitchFamily="34" charset="0"/>
                        </a:rPr>
                        <a:t>Faria </a:t>
                      </a:r>
                      <a:r>
                        <a:rPr lang="en-US" sz="2400" b="0" dirty="0" err="1">
                          <a:solidFill>
                            <a:schemeClr val="tx1"/>
                          </a:solidFill>
                          <a:latin typeface="Century Gothic (body)"/>
                          <a:cs typeface="Arial" panose="020B0604020202020204" pitchFamily="34" charset="0"/>
                        </a:rPr>
                        <a:t>Tilat</a:t>
                      </a:r>
                      <a:r>
                        <a:rPr lang="en-US" sz="2400" b="0" dirty="0">
                          <a:solidFill>
                            <a:schemeClr val="tx1"/>
                          </a:solidFill>
                          <a:latin typeface="Century Gothic (body)"/>
                          <a:cs typeface="Arial" panose="020B0604020202020204" pitchFamily="34" charset="0"/>
                        </a:rPr>
                        <a:t> Era </a:t>
                      </a:r>
                    </a:p>
                    <a:p>
                      <a:r>
                        <a:rPr lang="en-US" sz="2400" b="1" dirty="0">
                          <a:solidFill>
                            <a:schemeClr val="tx1"/>
                          </a:solidFill>
                          <a:latin typeface="Century Gothic (body)"/>
                          <a:cs typeface="Arial" panose="020B0604020202020204" pitchFamily="34" charset="0"/>
                        </a:rPr>
                        <a:t>2306140</a:t>
                      </a:r>
                    </a:p>
                  </a:txBody>
                  <a:tcPr>
                    <a:noFill/>
                  </a:tcPr>
                </a:tc>
                <a:tc>
                  <a:txBody>
                    <a:bodyPr/>
                    <a:lstStyle/>
                    <a:p>
                      <a:r>
                        <a:rPr lang="en-US" sz="2400" b="0" dirty="0">
                          <a:solidFill>
                            <a:schemeClr val="tx1"/>
                          </a:solidFill>
                          <a:latin typeface="Century Gothic (body)"/>
                          <a:cs typeface="Arial" panose="020B0604020202020204" pitchFamily="34" charset="0"/>
                        </a:rPr>
                        <a:t>Mujaddid </a:t>
                      </a:r>
                    </a:p>
                    <a:p>
                      <a:r>
                        <a:rPr lang="en-US" sz="2400" b="1" dirty="0">
                          <a:solidFill>
                            <a:schemeClr val="tx1"/>
                          </a:solidFill>
                          <a:latin typeface="Century Gothic (body)"/>
                          <a:cs typeface="Arial" panose="020B0604020202020204" pitchFamily="34" charset="0"/>
                        </a:rPr>
                        <a:t>2306143</a:t>
                      </a:r>
                    </a:p>
                  </a:txBody>
                  <a:tcPr>
                    <a:noFill/>
                  </a:tcPr>
                </a:tc>
                <a:tc>
                  <a:txBody>
                    <a:bodyPr/>
                    <a:lstStyle/>
                    <a:p>
                      <a:r>
                        <a:rPr lang="en-US" sz="2400" b="0" dirty="0" err="1">
                          <a:solidFill>
                            <a:schemeClr val="tx1"/>
                          </a:solidFill>
                          <a:latin typeface="Century Gothic (body)"/>
                          <a:cs typeface="Arial" panose="020B0604020202020204" pitchFamily="34" charset="0"/>
                        </a:rPr>
                        <a:t>Miftaha</a:t>
                      </a:r>
                      <a:r>
                        <a:rPr lang="en-US" sz="2400" b="0" dirty="0">
                          <a:solidFill>
                            <a:schemeClr val="tx1"/>
                          </a:solidFill>
                          <a:latin typeface="Century Gothic (body)"/>
                          <a:cs typeface="Arial" panose="020B0604020202020204" pitchFamily="34" charset="0"/>
                        </a:rPr>
                        <a:t> Musarrat</a:t>
                      </a:r>
                    </a:p>
                    <a:p>
                      <a:r>
                        <a:rPr lang="en-US" sz="2400" b="1" dirty="0">
                          <a:solidFill>
                            <a:schemeClr val="tx1"/>
                          </a:solidFill>
                          <a:latin typeface="Century Gothic (body)"/>
                          <a:cs typeface="Arial" panose="020B0604020202020204" pitchFamily="34" charset="0"/>
                        </a:rPr>
                        <a:t>2306144</a:t>
                      </a:r>
                    </a:p>
                  </a:txBody>
                  <a:tcPr>
                    <a:noFill/>
                  </a:tcPr>
                </a:tc>
                <a:extLst>
                  <a:ext uri="{0D108BD9-81ED-4DB2-BD59-A6C34878D82A}">
                    <a16:rowId xmlns:a16="http://schemas.microsoft.com/office/drawing/2014/main" val="1577950242"/>
                  </a:ext>
                </a:extLst>
              </a:tr>
            </a:tbl>
          </a:graphicData>
        </a:graphic>
      </p:graphicFrame>
    </p:spTree>
    <p:extLst>
      <p:ext uri="{BB962C8B-B14F-4D97-AF65-F5344CB8AC3E}">
        <p14:creationId xmlns:p14="http://schemas.microsoft.com/office/powerpoint/2010/main" val="208786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8E73FD-B199-71E4-B1D9-E117F3D18F61}"/>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9435D4CE-420C-664B-B876-3D67FD1AF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9421B37-4FDF-577F-FC27-55F3334C91A6}"/>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EA480AC1-038D-05F2-BAF6-2791D24B2D6D}"/>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54E56D-8E48-1B07-923A-B904D3460858}"/>
              </a:ext>
            </a:extLst>
          </p:cNvPr>
          <p:cNvSpPr txBox="1"/>
          <p:nvPr/>
        </p:nvSpPr>
        <p:spPr>
          <a:xfrm>
            <a:off x="4950432" y="144398"/>
            <a:ext cx="2291135"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Outline</a:t>
            </a:r>
          </a:p>
        </p:txBody>
      </p:sp>
      <p:sp>
        <p:nvSpPr>
          <p:cNvPr id="8" name="TextBox 7">
            <a:extLst>
              <a:ext uri="{FF2B5EF4-FFF2-40B4-BE49-F238E27FC236}">
                <a16:creationId xmlns:a16="http://schemas.microsoft.com/office/drawing/2014/main" id="{0E61EDFB-98EF-F05D-6C08-FF52890214A1}"/>
              </a:ext>
            </a:extLst>
          </p:cNvPr>
          <p:cNvSpPr txBox="1"/>
          <p:nvPr/>
        </p:nvSpPr>
        <p:spPr>
          <a:xfrm>
            <a:off x="636998" y="1593772"/>
            <a:ext cx="6226138" cy="2677656"/>
          </a:xfrm>
          <a:prstGeom prst="rect">
            <a:avLst/>
          </a:prstGeom>
          <a:noFill/>
        </p:spPr>
        <p:txBody>
          <a:bodyPr wrap="square">
            <a:spAutoFit/>
          </a:bodyPr>
          <a:lstStyle/>
          <a:p>
            <a:pPr marL="457200" indent="-457200">
              <a:buFont typeface="+mj-lt"/>
              <a:buAutoNum type="arabicPeriod"/>
            </a:pPr>
            <a:r>
              <a:rPr lang="en-BD" sz="2800" dirty="0">
                <a:latin typeface="Arial" panose="020B0604020202020204" pitchFamily="34" charset="0"/>
                <a:cs typeface="Arial" panose="020B0604020202020204" pitchFamily="34" charset="0"/>
              </a:rPr>
              <a:t>Summary</a:t>
            </a:r>
          </a:p>
          <a:p>
            <a:pPr marL="457200" indent="-457200">
              <a:buFont typeface="+mj-lt"/>
              <a:buAutoNum type="arabicPeriod"/>
            </a:pPr>
            <a:r>
              <a:rPr lang="en-US" sz="2800" dirty="0">
                <a:latin typeface="Arial" panose="020B0604020202020204" pitchFamily="34" charset="0"/>
                <a:cs typeface="Arial" panose="020B0604020202020204" pitchFamily="34" charset="0"/>
              </a:rPr>
              <a:t>Introduction</a:t>
            </a:r>
            <a:endParaRPr lang="en-BD"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Design</a:t>
            </a:r>
            <a:endParaRPr lang="en-BD"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Implementation</a:t>
            </a:r>
            <a:endParaRPr lang="en-BD"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Analysis and Evaluation</a:t>
            </a:r>
            <a:endParaRPr lang="en-BD"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References</a:t>
            </a:r>
            <a:endParaRPr lang="en-BD"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3870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7C2C28DA-9439-816F-AA5F-5A5C62A249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138B39-A717-8ABC-2FC7-A0CA66ED27F9}"/>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302F50B7-E240-31C9-24BF-B9DD1CEE1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BEC856F-C12B-E186-AB3A-31E3FA308E59}"/>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2297FA2C-DBEE-994A-C25B-517537C53916}"/>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E8D21F2-C37C-11F8-426E-F37F2239B5E4}"/>
              </a:ext>
            </a:extLst>
          </p:cNvPr>
          <p:cNvSpPr txBox="1"/>
          <p:nvPr/>
        </p:nvSpPr>
        <p:spPr>
          <a:xfrm>
            <a:off x="4312578" y="144398"/>
            <a:ext cx="3566844"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1. Summary</a:t>
            </a:r>
          </a:p>
        </p:txBody>
      </p:sp>
      <p:sp>
        <p:nvSpPr>
          <p:cNvPr id="8" name="TextBox 7">
            <a:extLst>
              <a:ext uri="{FF2B5EF4-FFF2-40B4-BE49-F238E27FC236}">
                <a16:creationId xmlns:a16="http://schemas.microsoft.com/office/drawing/2014/main" id="{6DA4133E-CA7E-B1C7-60AC-6AABC2A2612E}"/>
              </a:ext>
            </a:extLst>
          </p:cNvPr>
          <p:cNvSpPr txBox="1"/>
          <p:nvPr/>
        </p:nvSpPr>
        <p:spPr>
          <a:xfrm>
            <a:off x="469614" y="1363138"/>
            <a:ext cx="11105729" cy="1938992"/>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This project designs an analog protection controller for a 24V DC motor to prevent overheating and insulation breakdown caused by sustained overloads. The system ignores brief startup inrush spikes to avoid unnecessary shutdowns, executes an instant power cutoff during genuine faults, and enforces a 3-second auto-recovery delay before safely reconnecting the motor.</a:t>
            </a:r>
          </a:p>
        </p:txBody>
      </p:sp>
      <p:sp>
        <p:nvSpPr>
          <p:cNvPr id="9" name="Rectangle 2">
            <a:extLst>
              <a:ext uri="{FF2B5EF4-FFF2-40B4-BE49-F238E27FC236}">
                <a16:creationId xmlns:a16="http://schemas.microsoft.com/office/drawing/2014/main" id="{D6DCDA41-3B08-21AE-A182-D2A888E23A48}"/>
              </a:ext>
            </a:extLst>
          </p:cNvPr>
          <p:cNvSpPr>
            <a:spLocks noChangeArrowheads="1"/>
          </p:cNvSpPr>
          <p:nvPr/>
        </p:nvSpPr>
        <p:spPr bwMode="auto">
          <a:xfrm>
            <a:off x="3673862" y="3672724"/>
            <a:ext cx="4844275" cy="2156360"/>
          </a:xfrm>
          <a:prstGeom prst="rect">
            <a:avLst/>
          </a:prstGeom>
          <a:noFill/>
          <a:ln w="9525">
            <a:solidFill>
              <a:schemeClr val="tx1">
                <a:alpha val="48000"/>
              </a:schemeClr>
            </a:solidFill>
            <a:prstDash val="lgDashDotDot"/>
            <a:miter lim="800000"/>
            <a:headEnd/>
            <a:tailEnd/>
          </a:ln>
          <a:effectLst/>
        </p:spPr>
        <p:txBody>
          <a:bodyPr vert="horz" wrap="none" lIns="0" tIns="0" rIns="0" bIns="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rgbClr val="1F1F1F"/>
                </a:solidFill>
                <a:effectLst/>
                <a:latin typeface="Arial" panose="020B0604020202020204" pitchFamily="34" charset="0"/>
                <a:cs typeface="Arial" panose="020B0604020202020204" pitchFamily="34" charset="0"/>
              </a:rPr>
              <a:t>Motor Burnout Prevention</a:t>
            </a:r>
            <a:endParaRPr kumimoji="0" lang="en-US" altLang="en-US" sz="2400"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rgbClr val="1F1F1F"/>
                </a:solidFill>
                <a:effectLst/>
                <a:latin typeface="Arial" panose="020B0604020202020204" pitchFamily="34" charset="0"/>
                <a:cs typeface="Arial" panose="020B0604020202020204" pitchFamily="34" charset="0"/>
              </a:rPr>
              <a:t>False-Spike Filtering</a:t>
            </a:r>
            <a:endParaRPr kumimoji="0" lang="en-US" altLang="en-US" sz="2400"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rgbClr val="1F1F1F"/>
                </a:solidFill>
                <a:effectLst/>
                <a:latin typeface="Arial" panose="020B0604020202020204" pitchFamily="34" charset="0"/>
                <a:cs typeface="Arial" panose="020B0604020202020204" pitchFamily="34" charset="0"/>
              </a:rPr>
              <a:t>Dual-Sensor Stress Estimation</a:t>
            </a:r>
            <a:endParaRPr kumimoji="0" lang="en-US" altLang="en-US" sz="2400"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rgbClr val="1F1F1F"/>
                </a:solidFill>
                <a:effectLst/>
                <a:latin typeface="Arial" panose="020B0604020202020204" pitchFamily="34" charset="0"/>
                <a:cs typeface="Arial" panose="020B0604020202020204" pitchFamily="34" charset="0"/>
              </a:rPr>
              <a:t>Timed Auto-Recovery Delay</a:t>
            </a:r>
            <a:endParaRPr kumimoji="0" lang="en-US" altLang="en-US" sz="1800" b="0" i="0" u="none" strike="noStrike" cap="none" normalizeH="0" baseline="0" dirty="0">
              <a:ln>
                <a:noFill/>
              </a:ln>
              <a:solidFill>
                <a:srgbClr val="1F1F1F"/>
              </a:solidFill>
              <a:effectLst/>
              <a:latin typeface="Google Sans Text"/>
            </a:endParaRPr>
          </a:p>
        </p:txBody>
      </p:sp>
    </p:spTree>
    <p:extLst>
      <p:ext uri="{BB962C8B-B14F-4D97-AF65-F5344CB8AC3E}">
        <p14:creationId xmlns:p14="http://schemas.microsoft.com/office/powerpoint/2010/main" val="1355625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53C59-DA7B-3795-2747-7156F5BB2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C5F1642-1E4A-F396-3BFB-F3EF983F26A2}"/>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85C13AC4-6EF3-AFF3-800D-87F1D1822F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EA74284-B57D-C6D6-96D8-A52D8BF59DAF}"/>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F99D01A7-8424-3EE4-0F7B-689E015DE6DA}"/>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5FE79FD-B686-1EAE-C4D3-60E3BBEE5E2F}"/>
              </a:ext>
            </a:extLst>
          </p:cNvPr>
          <p:cNvSpPr txBox="1"/>
          <p:nvPr/>
        </p:nvSpPr>
        <p:spPr>
          <a:xfrm>
            <a:off x="3789452" y="144398"/>
            <a:ext cx="4368229"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2. Introduction</a:t>
            </a:r>
          </a:p>
        </p:txBody>
      </p:sp>
      <p:sp>
        <p:nvSpPr>
          <p:cNvPr id="7" name="TextBox 6">
            <a:extLst>
              <a:ext uri="{FF2B5EF4-FFF2-40B4-BE49-F238E27FC236}">
                <a16:creationId xmlns:a16="http://schemas.microsoft.com/office/drawing/2014/main" id="{97F67004-3103-1113-EDC7-9CFE7A6501BD}"/>
              </a:ext>
            </a:extLst>
          </p:cNvPr>
          <p:cNvSpPr txBox="1"/>
          <p:nvPr/>
        </p:nvSpPr>
        <p:spPr>
          <a:xfrm>
            <a:off x="536097" y="1331592"/>
            <a:ext cx="2791303" cy="523220"/>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Target Motor: </a:t>
            </a:r>
          </a:p>
        </p:txBody>
      </p:sp>
      <p:pic>
        <p:nvPicPr>
          <p:cNvPr id="9" name="Picture 8">
            <a:extLst>
              <a:ext uri="{FF2B5EF4-FFF2-40B4-BE49-F238E27FC236}">
                <a16:creationId xmlns:a16="http://schemas.microsoft.com/office/drawing/2014/main" id="{FAA42C13-D0FA-349A-23A2-EFC3382F791C}"/>
              </a:ext>
            </a:extLst>
          </p:cNvPr>
          <p:cNvPicPr>
            <a:picLocks noChangeAspect="1"/>
          </p:cNvPicPr>
          <p:nvPr/>
        </p:nvPicPr>
        <p:blipFill>
          <a:blip r:embed="rId3"/>
          <a:stretch>
            <a:fillRect/>
          </a:stretch>
        </p:blipFill>
        <p:spPr>
          <a:xfrm>
            <a:off x="1059186" y="2024076"/>
            <a:ext cx="3495028" cy="3495028"/>
          </a:xfrm>
          <a:prstGeom prst="rect">
            <a:avLst/>
          </a:prstGeom>
        </p:spPr>
      </p:pic>
      <p:sp>
        <p:nvSpPr>
          <p:cNvPr id="12" name="TextBox 11">
            <a:extLst>
              <a:ext uri="{FF2B5EF4-FFF2-40B4-BE49-F238E27FC236}">
                <a16:creationId xmlns:a16="http://schemas.microsoft.com/office/drawing/2014/main" id="{42C91BC4-3DD6-956A-335B-1E83B630CAE6}"/>
              </a:ext>
            </a:extLst>
          </p:cNvPr>
          <p:cNvSpPr txBox="1"/>
          <p:nvPr/>
        </p:nvSpPr>
        <p:spPr>
          <a:xfrm>
            <a:off x="1158876" y="5639476"/>
            <a:ext cx="4337048" cy="369332"/>
          </a:xfrm>
          <a:prstGeom prst="rect">
            <a:avLst/>
          </a:prstGeom>
          <a:noFill/>
        </p:spPr>
        <p:txBody>
          <a:bodyPr wrap="square" rtlCol="0">
            <a:spAutoFit/>
          </a:bodyPr>
          <a:lstStyle/>
          <a:p>
            <a:r>
              <a:rPr lang="en-US" i="1" dirty="0">
                <a:solidFill>
                  <a:schemeClr val="tx1">
                    <a:lumMod val="75000"/>
                    <a:lumOff val="25000"/>
                  </a:schemeClr>
                </a:solidFill>
                <a:latin typeface="Arial" panose="020B0604020202020204" pitchFamily="34" charset="0"/>
                <a:cs typeface="Arial" panose="020B0604020202020204" pitchFamily="34" charset="0"/>
              </a:rPr>
              <a:t>Figure: MY1016 24V 250W DC Motor</a:t>
            </a:r>
          </a:p>
        </p:txBody>
      </p:sp>
      <p:sp>
        <p:nvSpPr>
          <p:cNvPr id="17" name="TextBox 16">
            <a:extLst>
              <a:ext uri="{FF2B5EF4-FFF2-40B4-BE49-F238E27FC236}">
                <a16:creationId xmlns:a16="http://schemas.microsoft.com/office/drawing/2014/main" id="{67EF53E8-E002-C835-E339-E0827CDAB62A}"/>
              </a:ext>
            </a:extLst>
          </p:cNvPr>
          <p:cNvSpPr txBox="1"/>
          <p:nvPr/>
        </p:nvSpPr>
        <p:spPr>
          <a:xfrm>
            <a:off x="5973566" y="1121284"/>
            <a:ext cx="6223000" cy="5016758"/>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MY1016 DC Motor Operational Specifications</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Basic Ratings</a:t>
            </a:r>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Motor Model: MY1016 Brushed DC Motor</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Nominal Supply Voltage: 24 V DC</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Rated Power: 250 W</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Current Operating Ranges</a:t>
            </a:r>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Normal Operating Range: 0 A – 10 A</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Moderate Overload Range: 10 A – 14 A</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Critical Fault / Stall Threshold: &gt; 14 A</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Thermal Operating Ranges</a:t>
            </a:r>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Nominal Thermal Zone: 0°C – 80°C</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Thermal Warning Zone: 80°C – 100°C</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Critical Overheat Limit: ≥ 100°C</a:t>
            </a:r>
          </a:p>
        </p:txBody>
      </p:sp>
    </p:spTree>
    <p:extLst>
      <p:ext uri="{BB962C8B-B14F-4D97-AF65-F5344CB8AC3E}">
        <p14:creationId xmlns:p14="http://schemas.microsoft.com/office/powerpoint/2010/main" val="192538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2D99-2221-FED4-5FB6-653ECB879E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46314B-B9FB-378A-3834-7316C0781018}"/>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BA402B65-88E1-4CCC-27A3-EC32ADFED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03F6445-FCDE-99F8-4A03-6F6B35946CD9}"/>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6" name="TextBox 5">
            <a:extLst>
              <a:ext uri="{FF2B5EF4-FFF2-40B4-BE49-F238E27FC236}">
                <a16:creationId xmlns:a16="http://schemas.microsoft.com/office/drawing/2014/main" id="{96FBCF57-A10E-FACB-8963-0FC225F5EBB1}"/>
              </a:ext>
            </a:extLst>
          </p:cNvPr>
          <p:cNvSpPr txBox="1"/>
          <p:nvPr/>
        </p:nvSpPr>
        <p:spPr>
          <a:xfrm>
            <a:off x="3789452" y="144398"/>
            <a:ext cx="4368229"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2. Introduction</a:t>
            </a:r>
          </a:p>
        </p:txBody>
      </p:sp>
      <p:pic>
        <p:nvPicPr>
          <p:cNvPr id="1026" name="Picture 2">
            <a:extLst>
              <a:ext uri="{FF2B5EF4-FFF2-40B4-BE49-F238E27FC236}">
                <a16:creationId xmlns:a16="http://schemas.microsoft.com/office/drawing/2014/main" id="{3905ABDA-4219-5EF2-68A9-6CD3401FF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966" y="144398"/>
            <a:ext cx="10901973" cy="6135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84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80A71-E72C-BB78-CED5-54B59069B9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2B3449-F727-7354-EE7C-051CBFB7094F}"/>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79445D59-3591-7871-2A94-80029222E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A4B0DCB-73C7-CE1C-E467-4CAF061620B2}"/>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02F4815F-05A6-8BAB-3E5D-C0AF78526BAD}"/>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F9E69B5-F59D-D2BD-0884-52683843CAA0}"/>
              </a:ext>
            </a:extLst>
          </p:cNvPr>
          <p:cNvSpPr txBox="1"/>
          <p:nvPr/>
        </p:nvSpPr>
        <p:spPr>
          <a:xfrm>
            <a:off x="3789452" y="144398"/>
            <a:ext cx="4368229"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3. Design</a:t>
            </a:r>
          </a:p>
        </p:txBody>
      </p:sp>
      <p:sp>
        <p:nvSpPr>
          <p:cNvPr id="8" name="TextBox 7">
            <a:extLst>
              <a:ext uri="{FF2B5EF4-FFF2-40B4-BE49-F238E27FC236}">
                <a16:creationId xmlns:a16="http://schemas.microsoft.com/office/drawing/2014/main" id="{F5D94AEC-A7ED-3973-2BC4-A454C78AF197}"/>
              </a:ext>
            </a:extLst>
          </p:cNvPr>
          <p:cNvSpPr txBox="1"/>
          <p:nvPr/>
        </p:nvSpPr>
        <p:spPr>
          <a:xfrm>
            <a:off x="469614" y="1273330"/>
            <a:ext cx="11359159" cy="4708981"/>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3.1 Load Averaging: </a:t>
            </a:r>
            <a:r>
              <a:rPr lang="en-US" sz="2000" dirty="0">
                <a:latin typeface="Arial" panose="020B0604020202020204" pitchFamily="34" charset="0"/>
                <a:cs typeface="Arial" panose="020B0604020202020204" pitchFamily="34" charset="0"/>
              </a:rPr>
              <a:t>A current sensor converts the motor load current into a proportional voltage signal, which the op-amp integrator then smooths to match the thermal absorption rate of the motor coils.</a:t>
            </a: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3.2 Overload Detection: </a:t>
            </a:r>
            <a:r>
              <a:rPr lang="en-US" sz="2000" dirty="0">
                <a:latin typeface="Arial" panose="020B0604020202020204" pitchFamily="34" charset="0"/>
                <a:cs typeface="Arial" panose="020B0604020202020204" pitchFamily="34" charset="0"/>
              </a:rPr>
              <a:t>Differential amplifier subtracts the nominal voltage baseline from real-time load signals.</a:t>
            </a: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3.3 Stress Aggregation: </a:t>
            </a:r>
            <a:r>
              <a:rPr lang="en-US" sz="2000" dirty="0">
                <a:latin typeface="Arial" panose="020B0604020202020204" pitchFamily="34" charset="0"/>
                <a:cs typeface="Arial" panose="020B0604020202020204" pitchFamily="34" charset="0"/>
              </a:rPr>
              <a:t>Summing amplifier merges electrical overcurrent and thermal sensor signals into a single unified voltage. </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3.4 Control &amp; Timing: </a:t>
            </a:r>
            <a:r>
              <a:rPr lang="en-US" sz="2000" dirty="0">
                <a:latin typeface="Arial" panose="020B0604020202020204" pitchFamily="34" charset="0"/>
                <a:cs typeface="Arial" panose="020B0604020202020204" pitchFamily="34" charset="0"/>
              </a:rPr>
              <a:t>Decision stage compares total stress against critical thresholds and manages the RC auto-recovery timer.</a:t>
            </a: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3.5 Power Isolation: </a:t>
            </a:r>
            <a:r>
              <a:rPr lang="en-US" sz="2000" dirty="0">
                <a:latin typeface="Arial" panose="020B0604020202020204" pitchFamily="34" charset="0"/>
                <a:cs typeface="Arial" panose="020B0604020202020204" pitchFamily="34" charset="0"/>
              </a:rPr>
              <a:t>Low-power drive stage controls a power MOSFET to execute clean binary switching and isolate the load. </a:t>
            </a:r>
          </a:p>
        </p:txBody>
      </p:sp>
    </p:spTree>
    <p:extLst>
      <p:ext uri="{BB962C8B-B14F-4D97-AF65-F5344CB8AC3E}">
        <p14:creationId xmlns:p14="http://schemas.microsoft.com/office/powerpoint/2010/main" val="2798110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8D0A-7C89-54DE-4906-BB67352975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BE9F44-745D-D53F-818D-8A29F6E55BE8}"/>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E12045C6-089D-5252-9FFD-1CF7ADCBC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1667FA1-CC45-6897-60E2-4B3878CF48A5}"/>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9828D379-2376-8D31-F463-91D70A964350}"/>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BA6635-2E33-9E33-4340-689926B3DF3A}"/>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23904079-427B-AEB3-78D1-7AA1CE9CEA65}"/>
              </a:ext>
            </a:extLst>
          </p:cNvPr>
          <p:cNvSpPr txBox="1"/>
          <p:nvPr/>
        </p:nvSpPr>
        <p:spPr>
          <a:xfrm>
            <a:off x="634001" y="1246382"/>
            <a:ext cx="8349893" cy="1569660"/>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4.1 Sensor Input &amp; Operational Mapping</a:t>
            </a: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F1463120-AA52-B8D3-A3FA-5B2EA795D70F}"/>
              </a:ext>
            </a:extLst>
          </p:cNvPr>
          <p:cNvGraphicFramePr>
            <a:graphicFrameLocks noGrp="1"/>
          </p:cNvGraphicFramePr>
          <p:nvPr>
            <p:extLst>
              <p:ext uri="{D42A27DB-BD31-4B8C-83A1-F6EECF244321}">
                <p14:modId xmlns:p14="http://schemas.microsoft.com/office/powerpoint/2010/main" val="4138831224"/>
              </p:ext>
            </p:extLst>
          </p:nvPr>
        </p:nvGraphicFramePr>
        <p:xfrm>
          <a:off x="871441" y="2241642"/>
          <a:ext cx="10449118" cy="2134538"/>
        </p:xfrm>
        <a:graphic>
          <a:graphicData uri="http://schemas.openxmlformats.org/drawingml/2006/table">
            <a:tbl>
              <a:tblPr firstRow="1" bandRow="1">
                <a:tableStyleId>{5C22544A-7EE6-4342-B048-85BDC9FD1C3A}</a:tableStyleId>
              </a:tblPr>
              <a:tblGrid>
                <a:gridCol w="5224559">
                  <a:extLst>
                    <a:ext uri="{9D8B030D-6E8A-4147-A177-3AD203B41FA5}">
                      <a16:colId xmlns:a16="http://schemas.microsoft.com/office/drawing/2014/main" val="2218865460"/>
                    </a:ext>
                  </a:extLst>
                </a:gridCol>
                <a:gridCol w="5224559">
                  <a:extLst>
                    <a:ext uri="{9D8B030D-6E8A-4147-A177-3AD203B41FA5}">
                      <a16:colId xmlns:a16="http://schemas.microsoft.com/office/drawing/2014/main" val="846239611"/>
                    </a:ext>
                  </a:extLst>
                </a:gridCol>
              </a:tblGrid>
              <a:tr h="2134538">
                <a:tc>
                  <a:txBody>
                    <a:bodyPr/>
                    <a:lstStyle/>
                    <a:p>
                      <a:r>
                        <a:rPr lang="en-US" sz="2000" b="0" dirty="0">
                          <a:solidFill>
                            <a:schemeClr val="tx1"/>
                          </a:solidFill>
                          <a:latin typeface="Arial" panose="020B0604020202020204" pitchFamily="34" charset="0"/>
                          <a:cs typeface="Arial" panose="020B0604020202020204" pitchFamily="34" charset="0"/>
                        </a:rPr>
                        <a:t>Current Sensor Signal (Vin):</a:t>
                      </a:r>
                    </a:p>
                    <a:p>
                      <a:endParaRPr lang="en-US" sz="2000" b="0" dirty="0">
                        <a:solidFill>
                          <a:schemeClr val="tx1"/>
                        </a:solidFill>
                        <a:latin typeface="Arial" panose="020B0604020202020204" pitchFamily="34" charset="0"/>
                        <a:cs typeface="Arial" panose="020B0604020202020204" pitchFamily="34" charset="0"/>
                      </a:endParaRPr>
                    </a:p>
                    <a:p>
                      <a:r>
                        <a:rPr lang="en-US" sz="2000" b="0" dirty="0">
                          <a:solidFill>
                            <a:schemeClr val="tx1"/>
                          </a:solidFill>
                          <a:latin typeface="Arial" panose="020B0604020202020204" pitchFamily="34" charset="0"/>
                          <a:cs typeface="Arial" panose="020B0604020202020204" pitchFamily="34" charset="0"/>
                        </a:rPr>
                        <a:t>• Normal (0 A – 10 A): 0.0 V – 1.0 V</a:t>
                      </a:r>
                    </a:p>
                    <a:p>
                      <a:r>
                        <a:rPr lang="en-US" sz="2000" b="0" dirty="0">
                          <a:solidFill>
                            <a:schemeClr val="tx1"/>
                          </a:solidFill>
                          <a:latin typeface="Arial" panose="020B0604020202020204" pitchFamily="34" charset="0"/>
                          <a:cs typeface="Arial" panose="020B0604020202020204" pitchFamily="34" charset="0"/>
                        </a:rPr>
                        <a:t>• Overload (10 A – 14 A): 1.0 V – 1.4 V</a:t>
                      </a:r>
                    </a:p>
                    <a:p>
                      <a:r>
                        <a:rPr lang="en-US" sz="2000" b="0" dirty="0">
                          <a:solidFill>
                            <a:schemeClr val="tx1"/>
                          </a:solidFill>
                          <a:latin typeface="Arial" panose="020B0604020202020204" pitchFamily="34" charset="0"/>
                          <a:cs typeface="Arial" panose="020B0604020202020204" pitchFamily="34" charset="0"/>
                        </a:rPr>
                        <a:t>• Stall / Trip (&gt; 14 A): &gt; 1.4 V</a:t>
                      </a:r>
                    </a:p>
                    <a:p>
                      <a:endParaRPr lang="en-US" sz="2000" dirty="0"/>
                    </a:p>
                  </a:txBody>
                  <a:tcPr>
                    <a:noFill/>
                  </a:tcPr>
                </a:tc>
                <a:tc>
                  <a:txBody>
                    <a:bodyPr/>
                    <a:lstStyle/>
                    <a:p>
                      <a:r>
                        <a:rPr lang="en-US" sz="2000" b="0" dirty="0">
                          <a:solidFill>
                            <a:schemeClr val="tx1"/>
                          </a:solidFill>
                          <a:latin typeface="Arial" panose="020B0604020202020204" pitchFamily="34" charset="0"/>
                          <a:cs typeface="Arial" panose="020B0604020202020204" pitchFamily="34" charset="0"/>
                        </a:rPr>
                        <a:t>Temperature Sensor Signal (</a:t>
                      </a:r>
                      <a:r>
                        <a:rPr lang="en-US" sz="2000" b="0" dirty="0" err="1">
                          <a:solidFill>
                            <a:schemeClr val="tx1"/>
                          </a:solidFill>
                          <a:latin typeface="Arial" panose="020B0604020202020204" pitchFamily="34" charset="0"/>
                          <a:cs typeface="Arial" panose="020B0604020202020204" pitchFamily="34" charset="0"/>
                        </a:rPr>
                        <a:t>Vtemp</a:t>
                      </a:r>
                      <a:r>
                        <a:rPr lang="en-US" sz="2000" b="0" dirty="0">
                          <a:solidFill>
                            <a:schemeClr val="tx1"/>
                          </a:solidFill>
                          <a:latin typeface="Arial" panose="020B0604020202020204" pitchFamily="34" charset="0"/>
                          <a:cs typeface="Arial" panose="020B0604020202020204" pitchFamily="34" charset="0"/>
                        </a:rPr>
                        <a:t>):</a:t>
                      </a:r>
                    </a:p>
                    <a:p>
                      <a:endParaRPr lang="en-US" sz="2000" b="0" dirty="0">
                        <a:solidFill>
                          <a:schemeClr val="tx1"/>
                        </a:solidFill>
                        <a:latin typeface="Arial" panose="020B0604020202020204" pitchFamily="34" charset="0"/>
                        <a:cs typeface="Arial" panose="020B0604020202020204" pitchFamily="34" charset="0"/>
                      </a:endParaRPr>
                    </a:p>
                    <a:p>
                      <a:r>
                        <a:rPr lang="en-US" sz="2000" b="0" dirty="0">
                          <a:solidFill>
                            <a:schemeClr val="tx1"/>
                          </a:solidFill>
                          <a:latin typeface="Arial" panose="020B0604020202020204" pitchFamily="34" charset="0"/>
                          <a:cs typeface="Arial" panose="020B0604020202020204" pitchFamily="34" charset="0"/>
                        </a:rPr>
                        <a:t>• Normal (0°C – 80°C): 0.0 V – 0.8 V</a:t>
                      </a:r>
                    </a:p>
                    <a:p>
                      <a:r>
                        <a:rPr lang="en-US" sz="2000" b="0" dirty="0">
                          <a:solidFill>
                            <a:schemeClr val="tx1"/>
                          </a:solidFill>
                          <a:latin typeface="Arial" panose="020B0604020202020204" pitchFamily="34" charset="0"/>
                          <a:cs typeface="Arial" panose="020B0604020202020204" pitchFamily="34" charset="0"/>
                        </a:rPr>
                        <a:t>• Warning (80°C – 100°C): 0.8 V – 1.0 V</a:t>
                      </a:r>
                    </a:p>
                    <a:p>
                      <a:r>
                        <a:rPr lang="en-US" sz="2000" b="0" dirty="0">
                          <a:solidFill>
                            <a:schemeClr val="tx1"/>
                          </a:solidFill>
                          <a:latin typeface="Arial" panose="020B0604020202020204" pitchFamily="34" charset="0"/>
                          <a:cs typeface="Arial" panose="020B0604020202020204" pitchFamily="34" charset="0"/>
                        </a:rPr>
                        <a:t>• Shutdown (≥ 100°C): &gt; 1.0 V</a:t>
                      </a:r>
                    </a:p>
                    <a:p>
                      <a:endParaRPr lang="en-US" sz="2000" dirty="0"/>
                    </a:p>
                  </a:txBody>
                  <a:tcPr>
                    <a:noFill/>
                  </a:tcPr>
                </a:tc>
                <a:extLst>
                  <a:ext uri="{0D108BD9-81ED-4DB2-BD59-A6C34878D82A}">
                    <a16:rowId xmlns:a16="http://schemas.microsoft.com/office/drawing/2014/main" val="2899449462"/>
                  </a:ext>
                </a:extLst>
              </a:tr>
            </a:tbl>
          </a:graphicData>
        </a:graphic>
      </p:graphicFrame>
    </p:spTree>
    <p:extLst>
      <p:ext uri="{BB962C8B-B14F-4D97-AF65-F5344CB8AC3E}">
        <p14:creationId xmlns:p14="http://schemas.microsoft.com/office/powerpoint/2010/main" val="791304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2B41D-82E4-A048-4772-B016213868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FA94C9-EE3C-083D-D7D3-D1C6801D84E4}"/>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8DFE8DD5-4C2B-B084-B3FC-9819033AF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7F9E803-7A84-0A8B-4646-9B0027A037C6}"/>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FB187CE0-3487-25AA-6DAE-D94FB8D6B6E7}"/>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CD458B5-C7DA-C843-1F21-F43D57D929DC}"/>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9" name="TextBox 8">
            <a:extLst>
              <a:ext uri="{FF2B5EF4-FFF2-40B4-BE49-F238E27FC236}">
                <a16:creationId xmlns:a16="http://schemas.microsoft.com/office/drawing/2014/main" id="{D6BE7E9B-F4F7-F35F-F981-0D7033757DF0}"/>
              </a:ext>
            </a:extLst>
          </p:cNvPr>
          <p:cNvSpPr txBox="1"/>
          <p:nvPr/>
        </p:nvSpPr>
        <p:spPr>
          <a:xfrm>
            <a:off x="380144" y="1202636"/>
            <a:ext cx="11811856" cy="480131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Circuit Mathematical Model </a:t>
            </a:r>
            <a:r>
              <a:rPr lang="en-US" dirty="0">
                <a:latin typeface="Arial" panose="020B0604020202020204" pitchFamily="34" charset="0"/>
                <a:cs typeface="Arial" panose="020B0604020202020204" pitchFamily="34" charset="0"/>
              </a:rPr>
              <a:t>(Normalized to 3.0V Trip Setpoint)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1. Current Overload Gain (Gain = 7.5):</a:t>
            </a:r>
          </a:p>
          <a:p>
            <a:r>
              <a:rPr lang="en-US" dirty="0">
                <a:latin typeface="Arial" panose="020B0604020202020204" pitchFamily="34" charset="0"/>
                <a:cs typeface="Arial" panose="020B0604020202020204" pitchFamily="34" charset="0"/>
              </a:rPr>
              <a:t>   • Maximum Overload Delta: 14A Trip Limit (1.4V) - 10A Baseline (1.0V) = 0.4V</a:t>
            </a:r>
          </a:p>
          <a:p>
            <a:r>
              <a:rPr lang="en-US" dirty="0">
                <a:latin typeface="Arial" panose="020B0604020202020204" pitchFamily="34" charset="0"/>
                <a:cs typeface="Arial" panose="020B0604020202020204" pitchFamily="34" charset="0"/>
              </a:rPr>
              <a:t>   • Required Gain: 3.0V Trip Threshold / 0.4V Delta = 7.5</a:t>
            </a:r>
          </a:p>
          <a:p>
            <a:r>
              <a:rPr lang="en-US" dirty="0">
                <a:latin typeface="Arial" panose="020B0604020202020204" pitchFamily="34" charset="0"/>
                <a:cs typeface="Arial" panose="020B0604020202020204" pitchFamily="34" charset="0"/>
              </a:rPr>
              <a:t>   • Result: A full 14A current overload alone produces exactly 3.0V (7.5 × 0.4V = 3.0V).</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2. Thermal Overload Gain (Gain = 15):</a:t>
            </a:r>
          </a:p>
          <a:p>
            <a:r>
              <a:rPr lang="en-US" dirty="0">
                <a:latin typeface="Arial" panose="020B0604020202020204" pitchFamily="34" charset="0"/>
                <a:cs typeface="Arial" panose="020B0604020202020204" pitchFamily="34" charset="0"/>
              </a:rPr>
              <a:t>   • Maximum Thermal Delta: 100°C Shutdown (1.0V) - 80°C Baseline (0.8V) = 0.2V</a:t>
            </a:r>
          </a:p>
          <a:p>
            <a:r>
              <a:rPr lang="en-US" dirty="0">
                <a:latin typeface="Arial" panose="020B0604020202020204" pitchFamily="34" charset="0"/>
                <a:cs typeface="Arial" panose="020B0604020202020204" pitchFamily="34" charset="0"/>
              </a:rPr>
              <a:t>   • Required Gain: 3.0V Trip Threshold / 0.2V Delta = 15</a:t>
            </a:r>
          </a:p>
          <a:p>
            <a:r>
              <a:rPr lang="en-US" dirty="0">
                <a:latin typeface="Arial" panose="020B0604020202020204" pitchFamily="34" charset="0"/>
                <a:cs typeface="Arial" panose="020B0604020202020204" pitchFamily="34" charset="0"/>
              </a:rPr>
              <a:t>   • Result: A full 100°C thermal overload alone produces exactly 3.0V (15 × 0.2V = 3.0V).</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3. Combined Stress Scaling (</a:t>
            </a:r>
            <a:r>
              <a:rPr lang="en-US" dirty="0" err="1">
                <a:latin typeface="Arial" panose="020B0604020202020204" pitchFamily="34" charset="0"/>
                <a:cs typeface="Arial" panose="020B0604020202020204" pitchFamily="34" charset="0"/>
              </a:rPr>
              <a:t>Vstress</a:t>
            </a:r>
            <a:r>
              <a:rPr lang="en-US" dirty="0">
                <a:latin typeface="Arial" panose="020B0604020202020204" pitchFamily="34" charset="0"/>
                <a:cs typeface="Arial" panose="020B0604020202020204" pitchFamily="34" charset="0"/>
              </a:rPr>
              <a:t> ≥ 3.0V):</a:t>
            </a:r>
          </a:p>
          <a:p>
            <a:r>
              <a:rPr lang="en-US" dirty="0">
                <a:latin typeface="Arial" panose="020B0604020202020204" pitchFamily="34" charset="0"/>
                <a:cs typeface="Arial" panose="020B0604020202020204" pitchFamily="34" charset="0"/>
              </a:rPr>
              <a:t>   • Normalizes both pathways so that 100% current overload OR 100% thermal fault independently triggers the 3.0V trip threshold.</a:t>
            </a:r>
          </a:p>
          <a:p>
            <a:r>
              <a:rPr lang="en-US" dirty="0">
                <a:latin typeface="Arial" panose="020B0604020202020204" pitchFamily="34" charset="0"/>
                <a:cs typeface="Arial" panose="020B0604020202020204" pitchFamily="34" charset="0"/>
              </a:rPr>
              <a:t>   • Allows proportional fault aggregation: Partial heat buildup reduces the current threshold required to trip, protecting hot motor windings sooner.</a:t>
            </a:r>
          </a:p>
        </p:txBody>
      </p:sp>
    </p:spTree>
    <p:extLst>
      <p:ext uri="{BB962C8B-B14F-4D97-AF65-F5344CB8AC3E}">
        <p14:creationId xmlns:p14="http://schemas.microsoft.com/office/powerpoint/2010/main" val="3962981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9B751-79ED-E1A7-82BF-84F9F4A9583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83DF50-E9BD-FA0F-3986-3B8213539863}"/>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61BE8DDC-D406-D621-EBFA-72AFC0731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C5FE869-4928-238A-8D0B-4F7F820591F5}"/>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3FED218D-D7ED-04DF-944C-ED0EE5D3F424}"/>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88B934-BC30-7740-C41C-4CFB896AE39E}"/>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BA2B82F1-D53E-9559-5D09-8E456469ADA4}"/>
              </a:ext>
            </a:extLst>
          </p:cNvPr>
          <p:cNvSpPr txBox="1"/>
          <p:nvPr/>
        </p:nvSpPr>
        <p:spPr>
          <a:xfrm>
            <a:off x="315502" y="1261625"/>
            <a:ext cx="10582382" cy="172354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4.2 Circuit Mathematical Equations &amp; Op-Amp Modules</a:t>
            </a:r>
          </a:p>
          <a:p>
            <a:endParaRPr lang="en-US" sz="2800" dirty="0"/>
          </a:p>
          <a:p>
            <a:r>
              <a:rPr lang="en-US" sz="2000" dirty="0">
                <a:latin typeface="Arial" panose="020B0604020202020204" pitchFamily="34" charset="0"/>
                <a:cs typeface="Arial" panose="020B0604020202020204" pitchFamily="34" charset="0"/>
              </a:rPr>
              <a:t>• Supply Rails: Dual ±15V DC for µA741 op-amps; 24V DC for motor load</a:t>
            </a:r>
          </a:p>
          <a:p>
            <a:r>
              <a:rPr lang="en-US" sz="2000" dirty="0">
                <a:latin typeface="Arial" panose="020B0604020202020204" pitchFamily="34" charset="0"/>
                <a:cs typeface="Arial" panose="020B0604020202020204" pitchFamily="34" charset="0"/>
              </a:rPr>
              <a:t>• Integrator : </a:t>
            </a:r>
            <a:r>
              <a:rPr lang="en-US" sz="2000" dirty="0" err="1">
                <a:latin typeface="Arial" panose="020B0604020202020204" pitchFamily="34" charset="0"/>
                <a:cs typeface="Arial" panose="020B0604020202020204" pitchFamily="34" charset="0"/>
              </a:rPr>
              <a:t>Vavg</a:t>
            </a:r>
            <a:r>
              <a:rPr lang="en-US" sz="2000" dirty="0">
                <a:latin typeface="Arial" panose="020B0604020202020204" pitchFamily="34" charset="0"/>
                <a:cs typeface="Arial" panose="020B0604020202020204" pitchFamily="34" charset="0"/>
              </a:rPr>
              <a:t>(t) = -(1 / RC) * ∫ Vin(</a:t>
            </a:r>
            <a:r>
              <a:rPr lang="el-GR" sz="2000" dirty="0">
                <a:latin typeface="Arial" panose="020B0604020202020204" pitchFamily="34" charset="0"/>
                <a:cs typeface="Arial" panose="020B0604020202020204" pitchFamily="34" charset="0"/>
              </a:rPr>
              <a:t>τ) </a:t>
            </a:r>
            <a:r>
              <a:rPr lang="en-US" sz="2000" dirty="0">
                <a:latin typeface="Arial" panose="020B0604020202020204" pitchFamily="34" charset="0"/>
                <a:cs typeface="Arial" panose="020B0604020202020204" pitchFamily="34" charset="0"/>
              </a:rPr>
              <a:t>d</a:t>
            </a:r>
            <a:r>
              <a:rPr lang="el-GR" sz="2000" dirty="0">
                <a:latin typeface="Arial" panose="020B0604020202020204" pitchFamily="34" charset="0"/>
                <a:cs typeface="Arial" panose="020B0604020202020204" pitchFamily="34" charset="0"/>
              </a:rPr>
              <a:t>τ  (</a:t>
            </a:r>
            <a:r>
              <a:rPr lang="en-US" sz="2000" dirty="0">
                <a:latin typeface="Arial" panose="020B0604020202020204" pitchFamily="34" charset="0"/>
                <a:cs typeface="Arial" panose="020B0604020202020204" pitchFamily="34" charset="0"/>
              </a:rPr>
              <a:t>Filters transient inrush spikes)</a:t>
            </a:r>
          </a:p>
          <a:p>
            <a:endParaRPr lang="en-US" sz="1400" dirty="0"/>
          </a:p>
        </p:txBody>
      </p:sp>
      <p:pic>
        <p:nvPicPr>
          <p:cNvPr id="8" name="Picture 7">
            <a:extLst>
              <a:ext uri="{FF2B5EF4-FFF2-40B4-BE49-F238E27FC236}">
                <a16:creationId xmlns:a16="http://schemas.microsoft.com/office/drawing/2014/main" id="{180352A6-A611-A01B-F36C-711E18357A2A}"/>
              </a:ext>
            </a:extLst>
          </p:cNvPr>
          <p:cNvPicPr>
            <a:picLocks noChangeAspect="1"/>
          </p:cNvPicPr>
          <p:nvPr/>
        </p:nvPicPr>
        <p:blipFill>
          <a:blip r:embed="rId3"/>
          <a:stretch>
            <a:fillRect/>
          </a:stretch>
        </p:blipFill>
        <p:spPr>
          <a:xfrm>
            <a:off x="469614" y="2860662"/>
            <a:ext cx="6105847" cy="2981570"/>
          </a:xfrm>
          <a:prstGeom prst="rect">
            <a:avLst/>
          </a:prstGeom>
        </p:spPr>
      </p:pic>
      <p:sp>
        <p:nvSpPr>
          <p:cNvPr id="10" name="TextBox 9">
            <a:extLst>
              <a:ext uri="{FF2B5EF4-FFF2-40B4-BE49-F238E27FC236}">
                <a16:creationId xmlns:a16="http://schemas.microsoft.com/office/drawing/2014/main" id="{1C66C0FE-52A8-06D0-973C-B773F5E502FA}"/>
              </a:ext>
            </a:extLst>
          </p:cNvPr>
          <p:cNvSpPr txBox="1"/>
          <p:nvPr/>
        </p:nvSpPr>
        <p:spPr>
          <a:xfrm>
            <a:off x="8014699" y="3761749"/>
            <a:ext cx="3851952" cy="203132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Capacitor Selection (C4 = 1 µF): </a:t>
            </a:r>
            <a:r>
              <a:rPr lang="en-US" dirty="0">
                <a:latin typeface="Arial" panose="020B0604020202020204" pitchFamily="34" charset="0"/>
                <a:cs typeface="Arial" panose="020B0604020202020204" pitchFamily="34" charset="0"/>
              </a:rPr>
              <a:t>Establishes a 100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integration time constant (τ = R3 × C4) to filter short startup inrush spikes (&lt; 100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while passing sustained overload faults to the decision stage.</a:t>
            </a:r>
          </a:p>
        </p:txBody>
      </p:sp>
    </p:spTree>
    <p:extLst>
      <p:ext uri="{BB962C8B-B14F-4D97-AF65-F5344CB8AC3E}">
        <p14:creationId xmlns:p14="http://schemas.microsoft.com/office/powerpoint/2010/main" val="90123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A52A2-B64A-E65C-8EA0-EC20FCCACE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825AB0-0F84-FCE4-470F-89CDF4D1F540}"/>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20D2E1E1-B4D6-BB6C-9A9A-7618794AF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69DB515-8523-C0BC-F226-AE72F2CBED82}"/>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F4097602-B5EF-56F5-3CED-CFA9E8FA4C93}"/>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487328D-123C-549E-4285-A816BCB111DC}"/>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27B44A0C-C63B-D2F6-C805-DF468834B088}"/>
              </a:ext>
            </a:extLst>
          </p:cNvPr>
          <p:cNvSpPr txBox="1"/>
          <p:nvPr/>
        </p:nvSpPr>
        <p:spPr>
          <a:xfrm>
            <a:off x="315502" y="1261625"/>
            <a:ext cx="10582382" cy="172354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4.2 Circuit Mathematical Equations &amp; Op-Amp Modules</a:t>
            </a:r>
          </a:p>
          <a:p>
            <a:endParaRPr lang="en-US" sz="2800" dirty="0"/>
          </a:p>
          <a:p>
            <a:r>
              <a:rPr lang="en-US" sz="2000" dirty="0">
                <a:latin typeface="Arial" panose="020B0604020202020204" pitchFamily="34" charset="0"/>
                <a:cs typeface="Arial" panose="020B0604020202020204" pitchFamily="34" charset="0"/>
              </a:rPr>
              <a:t>• Inverting Summer as Differential Error Extractor: (Extracts net current overload above baseline)</a:t>
            </a:r>
          </a:p>
          <a:p>
            <a:endParaRPr lang="en-US" sz="1400" dirty="0"/>
          </a:p>
        </p:txBody>
      </p:sp>
      <p:pic>
        <p:nvPicPr>
          <p:cNvPr id="8" name="Picture 7">
            <a:extLst>
              <a:ext uri="{FF2B5EF4-FFF2-40B4-BE49-F238E27FC236}">
                <a16:creationId xmlns:a16="http://schemas.microsoft.com/office/drawing/2014/main" id="{D04DDFB7-2B19-2B0F-3725-DA5BDD6E1C30}"/>
              </a:ext>
            </a:extLst>
          </p:cNvPr>
          <p:cNvPicPr>
            <a:picLocks noChangeAspect="1"/>
          </p:cNvPicPr>
          <p:nvPr/>
        </p:nvPicPr>
        <p:blipFill>
          <a:blip r:embed="rId3"/>
          <a:stretch>
            <a:fillRect/>
          </a:stretch>
        </p:blipFill>
        <p:spPr>
          <a:xfrm>
            <a:off x="5733039" y="2613295"/>
            <a:ext cx="6143459" cy="3601669"/>
          </a:xfrm>
          <a:prstGeom prst="rect">
            <a:avLst/>
          </a:prstGeom>
        </p:spPr>
      </p:pic>
      <p:sp>
        <p:nvSpPr>
          <p:cNvPr id="10" name="TextBox 9">
            <a:extLst>
              <a:ext uri="{FF2B5EF4-FFF2-40B4-BE49-F238E27FC236}">
                <a16:creationId xmlns:a16="http://schemas.microsoft.com/office/drawing/2014/main" id="{A9188507-5F55-B759-1030-6B2515E4F5FA}"/>
              </a:ext>
            </a:extLst>
          </p:cNvPr>
          <p:cNvSpPr txBox="1"/>
          <p:nvPr/>
        </p:nvSpPr>
        <p:spPr>
          <a:xfrm>
            <a:off x="515842" y="4643534"/>
            <a:ext cx="6226138" cy="1323439"/>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The 1.0V reference corresponds to the 10A nominal operating limit, subtracting baseline load so the circuit isolates and amplifies only overcurrent fault signals above 10A.</a:t>
            </a:r>
          </a:p>
        </p:txBody>
      </p:sp>
      <p:sp>
        <p:nvSpPr>
          <p:cNvPr id="13" name="TextBox 12">
            <a:extLst>
              <a:ext uri="{FF2B5EF4-FFF2-40B4-BE49-F238E27FC236}">
                <a16:creationId xmlns:a16="http://schemas.microsoft.com/office/drawing/2014/main" id="{3BB7C50B-6E14-93B5-0BB6-4163F0437CE7}"/>
              </a:ext>
            </a:extLst>
          </p:cNvPr>
          <p:cNvSpPr txBox="1"/>
          <p:nvPr/>
        </p:nvSpPr>
        <p:spPr>
          <a:xfrm>
            <a:off x="8259996" y="5784351"/>
            <a:ext cx="3616502" cy="380755"/>
          </a:xfrm>
          <a:prstGeom prst="rect">
            <a:avLst/>
          </a:prstGeom>
          <a:noFill/>
          <a:ln>
            <a:solidFill>
              <a:srgbClr val="FF0000"/>
            </a:solidFill>
          </a:ln>
        </p:spPr>
        <p:txBody>
          <a:bodyPr wrap="square">
            <a:spAutoFit/>
          </a:bodyPr>
          <a:lstStyle/>
          <a:p>
            <a:r>
              <a:rPr lang="nl-NL" dirty="0">
                <a:latin typeface="Arial" panose="020B0604020202020204" pitchFamily="34" charset="0"/>
                <a:cs typeface="Arial" panose="020B0604020202020204" pitchFamily="34" charset="0"/>
              </a:rPr>
              <a:t>Verr_current = 7.5 * (Vavg - 1.0V</a:t>
            </a:r>
            <a:r>
              <a:rPr lang="nl-NL" dirty="0"/>
              <a:t>)</a:t>
            </a:r>
            <a:endParaRPr lang="en-US" dirty="0"/>
          </a:p>
        </p:txBody>
      </p:sp>
    </p:spTree>
    <p:extLst>
      <p:ext uri="{BB962C8B-B14F-4D97-AF65-F5344CB8AC3E}">
        <p14:creationId xmlns:p14="http://schemas.microsoft.com/office/powerpoint/2010/main" val="141404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0E8F-5573-2C1B-AA82-C06B7A9A02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F23FB2-E612-D761-43AA-3FF13930125D}"/>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FECABC9D-0814-0B86-2CC7-AD4C2A454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BFB6E3-D8C7-78A3-1777-4EDFFF7C0255}"/>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194D7A6A-0354-5AD0-B9A7-CD3EA104EA3A}"/>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ED13F0D-2B06-E0DF-EFCE-BDCF17C20C9A}"/>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E1EF7695-A222-6774-4438-8F1E198A329D}"/>
              </a:ext>
            </a:extLst>
          </p:cNvPr>
          <p:cNvSpPr txBox="1"/>
          <p:nvPr/>
        </p:nvSpPr>
        <p:spPr>
          <a:xfrm>
            <a:off x="315502" y="1261625"/>
            <a:ext cx="10582382" cy="1631216"/>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4.2 Circuit Mathematical Equations &amp; Op-Amp Modules</a:t>
            </a:r>
          </a:p>
          <a:p>
            <a:endParaRPr lang="en-US" sz="2800" dirty="0"/>
          </a:p>
          <a:p>
            <a:r>
              <a:rPr lang="en-US" sz="2400" dirty="0"/>
              <a:t>• Thermal Overload Differential </a:t>
            </a:r>
          </a:p>
          <a:p>
            <a:r>
              <a:rPr lang="en-US" sz="2400" dirty="0"/>
              <a:t>Amplifier</a:t>
            </a:r>
            <a:endParaRPr lang="en-US" sz="1400" dirty="0"/>
          </a:p>
        </p:txBody>
      </p:sp>
      <p:pic>
        <p:nvPicPr>
          <p:cNvPr id="8" name="Picture 7">
            <a:extLst>
              <a:ext uri="{FF2B5EF4-FFF2-40B4-BE49-F238E27FC236}">
                <a16:creationId xmlns:a16="http://schemas.microsoft.com/office/drawing/2014/main" id="{D0FB7413-9FE1-76D2-1114-251954CE030D}"/>
              </a:ext>
            </a:extLst>
          </p:cNvPr>
          <p:cNvPicPr>
            <a:picLocks noChangeAspect="1"/>
          </p:cNvPicPr>
          <p:nvPr/>
        </p:nvPicPr>
        <p:blipFill>
          <a:blip r:embed="rId3"/>
          <a:stretch>
            <a:fillRect/>
          </a:stretch>
        </p:blipFill>
        <p:spPr>
          <a:xfrm>
            <a:off x="5256944" y="2033562"/>
            <a:ext cx="6842589" cy="3350478"/>
          </a:xfrm>
          <a:prstGeom prst="rect">
            <a:avLst/>
          </a:prstGeom>
        </p:spPr>
      </p:pic>
      <p:sp>
        <p:nvSpPr>
          <p:cNvPr id="10" name="TextBox 9">
            <a:extLst>
              <a:ext uri="{FF2B5EF4-FFF2-40B4-BE49-F238E27FC236}">
                <a16:creationId xmlns:a16="http://schemas.microsoft.com/office/drawing/2014/main" id="{846BB6CB-26C7-3BBE-9F4B-64E77EFFFCE3}"/>
              </a:ext>
            </a:extLst>
          </p:cNvPr>
          <p:cNvSpPr txBox="1"/>
          <p:nvPr/>
        </p:nvSpPr>
        <p:spPr>
          <a:xfrm>
            <a:off x="315502" y="2960289"/>
            <a:ext cx="4585271" cy="3170099"/>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Core Function: </a:t>
            </a:r>
            <a:r>
              <a:rPr lang="en-US" sz="2000" dirty="0">
                <a:latin typeface="Arial" panose="020B0604020202020204" pitchFamily="34" charset="0"/>
                <a:cs typeface="Arial" panose="020B0604020202020204" pitchFamily="34" charset="0"/>
              </a:rPr>
              <a:t>Subtracts the 0.8V reference baseline from </a:t>
            </a:r>
            <a:r>
              <a:rPr lang="en-US" sz="2000" dirty="0" err="1">
                <a:latin typeface="Arial" panose="020B0604020202020204" pitchFamily="34" charset="0"/>
                <a:cs typeface="Arial" panose="020B0604020202020204" pitchFamily="34" charset="0"/>
              </a:rPr>
              <a:t>Vtemp</a:t>
            </a:r>
            <a:r>
              <a:rPr lang="en-US" sz="2000" dirty="0">
                <a:latin typeface="Arial" panose="020B0604020202020204" pitchFamily="34" charset="0"/>
                <a:cs typeface="Arial" panose="020B0604020202020204" pitchFamily="34" charset="0"/>
              </a:rPr>
              <a:t> and amplifies the difference by a gain of 15 (150kΩ / 10kΩ).</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0.8V Reference Purpose: </a:t>
            </a:r>
            <a:r>
              <a:rPr lang="en-US" sz="2000" dirty="0">
                <a:latin typeface="Arial" panose="020B0604020202020204" pitchFamily="34" charset="0"/>
                <a:cs typeface="Arial" panose="020B0604020202020204" pitchFamily="34" charset="0"/>
              </a:rPr>
              <a:t>Represents the 80°C upper nominal limit, ensuring the circuit isolates and amplifies only the excess heat generated in the warning zone (80°C – 100°C).</a:t>
            </a:r>
          </a:p>
        </p:txBody>
      </p:sp>
      <p:sp>
        <p:nvSpPr>
          <p:cNvPr id="13" name="TextBox 12">
            <a:extLst>
              <a:ext uri="{FF2B5EF4-FFF2-40B4-BE49-F238E27FC236}">
                <a16:creationId xmlns:a16="http://schemas.microsoft.com/office/drawing/2014/main" id="{95770E93-75BF-7AE7-D5B9-D7B3C67355EF}"/>
              </a:ext>
            </a:extLst>
          </p:cNvPr>
          <p:cNvSpPr txBox="1"/>
          <p:nvPr/>
        </p:nvSpPr>
        <p:spPr>
          <a:xfrm>
            <a:off x="7811357" y="5540763"/>
            <a:ext cx="3767618" cy="369332"/>
          </a:xfrm>
          <a:prstGeom prst="rect">
            <a:avLst/>
          </a:prstGeom>
          <a:noFill/>
          <a:ln>
            <a:solidFill>
              <a:srgbClr val="FF0000"/>
            </a:solidFill>
          </a:ln>
        </p:spPr>
        <p:txBody>
          <a:bodyPr wrap="square">
            <a:spAutoFit/>
          </a:bodyPr>
          <a:lstStyle/>
          <a:p>
            <a:r>
              <a:rPr lang="en-US" dirty="0" err="1">
                <a:latin typeface="Arial" panose="020B0604020202020204" pitchFamily="34" charset="0"/>
                <a:cs typeface="Arial" panose="020B0604020202020204" pitchFamily="34" charset="0"/>
              </a:rPr>
              <a:t>Verr_temp</a:t>
            </a:r>
            <a:r>
              <a:rPr lang="en-US" dirty="0">
                <a:latin typeface="Arial" panose="020B0604020202020204" pitchFamily="34" charset="0"/>
                <a:cs typeface="Arial" panose="020B0604020202020204" pitchFamily="34" charset="0"/>
              </a:rPr>
              <a:t> = 15 * (</a:t>
            </a:r>
            <a:r>
              <a:rPr lang="en-US" dirty="0" err="1">
                <a:latin typeface="Arial" panose="020B0604020202020204" pitchFamily="34" charset="0"/>
                <a:cs typeface="Arial" panose="020B0604020202020204" pitchFamily="34" charset="0"/>
              </a:rPr>
              <a:t>Vtemp</a:t>
            </a:r>
            <a:r>
              <a:rPr lang="en-US" dirty="0">
                <a:latin typeface="Arial" panose="020B0604020202020204" pitchFamily="34" charset="0"/>
                <a:cs typeface="Arial" panose="020B0604020202020204" pitchFamily="34" charset="0"/>
              </a:rPr>
              <a:t> - 0.8V)</a:t>
            </a:r>
          </a:p>
        </p:txBody>
      </p:sp>
    </p:spTree>
    <p:extLst>
      <p:ext uri="{BB962C8B-B14F-4D97-AF65-F5344CB8AC3E}">
        <p14:creationId xmlns:p14="http://schemas.microsoft.com/office/powerpoint/2010/main" val="635100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0EDC-9688-3A39-7BDB-3E815E420A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AD597D-3C28-846F-2471-7F2F172A5DF4}"/>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530B8C31-B169-10E1-47D8-480933D07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49A4F7F-DCAA-DD49-8073-A187742480E5}"/>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41A7E98F-8992-CAE1-9DE6-83BFE79D7894}"/>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2E66D3-A374-8117-62E6-877BCCA29243}"/>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AED611A9-1705-CE8E-BF36-0DF579FE7D72}"/>
              </a:ext>
            </a:extLst>
          </p:cNvPr>
          <p:cNvSpPr txBox="1"/>
          <p:nvPr/>
        </p:nvSpPr>
        <p:spPr>
          <a:xfrm>
            <a:off x="315502" y="1261625"/>
            <a:ext cx="10582382" cy="1477328"/>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4.2 Circuit Mathematical Equations &amp; Op-Amp Modules</a:t>
            </a:r>
          </a:p>
          <a:p>
            <a:endParaRPr lang="en-US" sz="2800" dirty="0"/>
          </a:p>
          <a:p>
            <a:r>
              <a:rPr lang="en-US" sz="2400" dirty="0"/>
              <a:t>• Summing Amplifier : (Aggregates load and heat stress)</a:t>
            </a:r>
          </a:p>
          <a:p>
            <a:endParaRPr lang="en-US" sz="1400" dirty="0"/>
          </a:p>
        </p:txBody>
      </p:sp>
      <p:pic>
        <p:nvPicPr>
          <p:cNvPr id="8" name="Picture 7">
            <a:extLst>
              <a:ext uri="{FF2B5EF4-FFF2-40B4-BE49-F238E27FC236}">
                <a16:creationId xmlns:a16="http://schemas.microsoft.com/office/drawing/2014/main" id="{7887C4EC-4864-F575-5705-C6C06B93C943}"/>
              </a:ext>
            </a:extLst>
          </p:cNvPr>
          <p:cNvPicPr>
            <a:picLocks noChangeAspect="1"/>
          </p:cNvPicPr>
          <p:nvPr/>
        </p:nvPicPr>
        <p:blipFill>
          <a:blip r:embed="rId3"/>
          <a:stretch>
            <a:fillRect/>
          </a:stretch>
        </p:blipFill>
        <p:spPr>
          <a:xfrm>
            <a:off x="6286040" y="2738953"/>
            <a:ext cx="5590458" cy="3312063"/>
          </a:xfrm>
          <a:prstGeom prst="rect">
            <a:avLst/>
          </a:prstGeom>
        </p:spPr>
      </p:pic>
      <p:sp>
        <p:nvSpPr>
          <p:cNvPr id="10" name="TextBox 9">
            <a:extLst>
              <a:ext uri="{FF2B5EF4-FFF2-40B4-BE49-F238E27FC236}">
                <a16:creationId xmlns:a16="http://schemas.microsoft.com/office/drawing/2014/main" id="{A2880705-5308-C185-CCE7-B52A5914FD1E}"/>
              </a:ext>
            </a:extLst>
          </p:cNvPr>
          <p:cNvSpPr txBox="1"/>
          <p:nvPr/>
        </p:nvSpPr>
        <p:spPr>
          <a:xfrm>
            <a:off x="125463" y="5268397"/>
            <a:ext cx="5780498" cy="646331"/>
          </a:xfrm>
          <a:prstGeom prst="rect">
            <a:avLst/>
          </a:prstGeom>
          <a:noFill/>
          <a:ln>
            <a:solidFill>
              <a:srgbClr val="FF0000"/>
            </a:solidFill>
          </a:ln>
        </p:spPr>
        <p:txBody>
          <a:bodyPr wrap="square">
            <a:spAutoFit/>
          </a:bodyPr>
          <a:lstStyle/>
          <a:p>
            <a:r>
              <a:rPr lang="en-US" dirty="0" err="1">
                <a:latin typeface="Arial" panose="020B0604020202020204" pitchFamily="34" charset="0"/>
                <a:cs typeface="Arial" panose="020B0604020202020204" pitchFamily="34" charset="0"/>
              </a:rPr>
              <a:t>Vstress</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Verr_current</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Verr_temp</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Vstress</a:t>
            </a:r>
            <a:r>
              <a:rPr lang="en-US" dirty="0">
                <a:latin typeface="Arial" panose="020B0604020202020204" pitchFamily="34" charset="0"/>
                <a:cs typeface="Arial" panose="020B0604020202020204" pitchFamily="34" charset="0"/>
              </a:rPr>
              <a:t> = [7.5 * (</a:t>
            </a:r>
            <a:r>
              <a:rPr lang="en-US" dirty="0" err="1">
                <a:latin typeface="Arial" panose="020B0604020202020204" pitchFamily="34" charset="0"/>
                <a:cs typeface="Arial" panose="020B0604020202020204" pitchFamily="34" charset="0"/>
              </a:rPr>
              <a:t>Vavg</a:t>
            </a:r>
            <a:r>
              <a:rPr lang="en-US" dirty="0">
                <a:latin typeface="Arial" panose="020B0604020202020204" pitchFamily="34" charset="0"/>
                <a:cs typeface="Arial" panose="020B0604020202020204" pitchFamily="34" charset="0"/>
              </a:rPr>
              <a:t> - 1.0V)] + [15 * (</a:t>
            </a:r>
            <a:r>
              <a:rPr lang="en-US" dirty="0" err="1">
                <a:latin typeface="Arial" panose="020B0604020202020204" pitchFamily="34" charset="0"/>
                <a:cs typeface="Arial" panose="020B0604020202020204" pitchFamily="34" charset="0"/>
              </a:rPr>
              <a:t>Vtemp</a:t>
            </a:r>
            <a:r>
              <a:rPr lang="en-US" dirty="0">
                <a:latin typeface="Arial" panose="020B0604020202020204" pitchFamily="34" charset="0"/>
                <a:cs typeface="Arial" panose="020B0604020202020204" pitchFamily="34" charset="0"/>
              </a:rPr>
              <a:t> - 0.8V)]</a:t>
            </a:r>
          </a:p>
        </p:txBody>
      </p:sp>
    </p:spTree>
    <p:extLst>
      <p:ext uri="{BB962C8B-B14F-4D97-AF65-F5344CB8AC3E}">
        <p14:creationId xmlns:p14="http://schemas.microsoft.com/office/powerpoint/2010/main" val="2491379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B157-5D42-C0DA-F40A-22A34B7141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A03F27-F8BB-567E-CD24-5FDAF75E945C}"/>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0ADF7FBE-4FE6-2E05-50DC-F0E1D2A59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3AC9CFF-E655-CFB1-ECA2-FED3083349AC}"/>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13519424-EF23-86AB-356F-301CAE814323}"/>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CF4BE6C-524B-D9AC-3EF5-220203A98D2E}"/>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8D3F3083-1E3F-0A44-2124-2078B752BF75}"/>
              </a:ext>
            </a:extLst>
          </p:cNvPr>
          <p:cNvSpPr txBox="1"/>
          <p:nvPr/>
        </p:nvSpPr>
        <p:spPr>
          <a:xfrm>
            <a:off x="194236" y="1197047"/>
            <a:ext cx="10582382" cy="615553"/>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 System Trip Setpoint: </a:t>
            </a:r>
            <a:r>
              <a:rPr lang="en-US" sz="2000" dirty="0">
                <a:latin typeface="Arial" panose="020B0604020202020204" pitchFamily="34" charset="0"/>
                <a:cs typeface="Arial" panose="020B0604020202020204" pitchFamily="34" charset="0"/>
              </a:rPr>
              <a:t>Power cutoff triggers when (</a:t>
            </a:r>
            <a:r>
              <a:rPr lang="en-US" sz="2000" dirty="0" err="1">
                <a:latin typeface="Arial" panose="020B0604020202020204" pitchFamily="34" charset="0"/>
                <a:cs typeface="Arial" panose="020B0604020202020204" pitchFamily="34" charset="0"/>
              </a:rPr>
              <a:t>Verr</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Vtemp</a:t>
            </a:r>
            <a:r>
              <a:rPr lang="en-US" sz="2000" dirty="0">
                <a:latin typeface="Arial" panose="020B0604020202020204" pitchFamily="34" charset="0"/>
                <a:cs typeface="Arial" panose="020B0604020202020204" pitchFamily="34" charset="0"/>
              </a:rPr>
              <a:t>) ≥ 3.0V</a:t>
            </a:r>
          </a:p>
          <a:p>
            <a:endParaRPr lang="en-US" sz="1400" dirty="0"/>
          </a:p>
        </p:txBody>
      </p:sp>
      <p:graphicFrame>
        <p:nvGraphicFramePr>
          <p:cNvPr id="12" name="Table 11">
            <a:extLst>
              <a:ext uri="{FF2B5EF4-FFF2-40B4-BE49-F238E27FC236}">
                <a16:creationId xmlns:a16="http://schemas.microsoft.com/office/drawing/2014/main" id="{272ECBE2-E592-1B14-493C-0984D8D3F3AE}"/>
              </a:ext>
            </a:extLst>
          </p:cNvPr>
          <p:cNvGraphicFramePr>
            <a:graphicFrameLocks noGrp="1"/>
          </p:cNvGraphicFramePr>
          <p:nvPr>
            <p:extLst>
              <p:ext uri="{D42A27DB-BD31-4B8C-83A1-F6EECF244321}">
                <p14:modId xmlns:p14="http://schemas.microsoft.com/office/powerpoint/2010/main" val="3159005792"/>
              </p:ext>
            </p:extLst>
          </p:nvPr>
        </p:nvGraphicFramePr>
        <p:xfrm>
          <a:off x="275080" y="1696311"/>
          <a:ext cx="11560996" cy="4511040"/>
        </p:xfrm>
        <a:graphic>
          <a:graphicData uri="http://schemas.openxmlformats.org/drawingml/2006/table">
            <a:tbl>
              <a:tblPr firstRow="1" bandRow="1">
                <a:tableStyleId>{5C22544A-7EE6-4342-B048-85BDC9FD1C3A}</a:tableStyleId>
              </a:tblPr>
              <a:tblGrid>
                <a:gridCol w="5780498">
                  <a:extLst>
                    <a:ext uri="{9D8B030D-6E8A-4147-A177-3AD203B41FA5}">
                      <a16:colId xmlns:a16="http://schemas.microsoft.com/office/drawing/2014/main" val="2688787320"/>
                    </a:ext>
                  </a:extLst>
                </a:gridCol>
                <a:gridCol w="5780498">
                  <a:extLst>
                    <a:ext uri="{9D8B030D-6E8A-4147-A177-3AD203B41FA5}">
                      <a16:colId xmlns:a16="http://schemas.microsoft.com/office/drawing/2014/main" val="3671722306"/>
                    </a:ext>
                  </a:extLst>
                </a:gridCol>
              </a:tblGrid>
              <a:tr h="4285568">
                <a:tc>
                  <a:txBody>
                    <a:bodyPr/>
                    <a:lstStyle/>
                    <a:p>
                      <a:r>
                        <a:rPr lang="en-US" sz="1600" b="0" dirty="0">
                          <a:solidFill>
                            <a:schemeClr val="tx1"/>
                          </a:solidFill>
                          <a:latin typeface="Arial" panose="020B0604020202020204" pitchFamily="34" charset="0"/>
                          <a:cs typeface="Arial" panose="020B0604020202020204" pitchFamily="34" charset="0"/>
                        </a:rPr>
                        <a:t>1. Normal Operation (VSTRESS &lt; 3.0V): </a:t>
                      </a:r>
                    </a:p>
                    <a:p>
                      <a:r>
                        <a:rPr lang="en-US" sz="1600" b="0" dirty="0">
                          <a:solidFill>
                            <a:schemeClr val="tx1"/>
                          </a:solidFill>
                          <a:latin typeface="Arial" panose="020B0604020202020204" pitchFamily="34" charset="0"/>
                          <a:cs typeface="Arial" panose="020B0604020202020204" pitchFamily="34" charset="0"/>
                        </a:rPr>
                        <a:t>• Output stays HIGH (15V). </a:t>
                      </a:r>
                    </a:p>
                    <a:p>
                      <a:r>
                        <a:rPr lang="en-US" sz="1600" b="0" dirty="0">
                          <a:solidFill>
                            <a:schemeClr val="tx1"/>
                          </a:solidFill>
                          <a:latin typeface="Arial" panose="020B0604020202020204" pitchFamily="34" charset="0"/>
                          <a:cs typeface="Arial" panose="020B0604020202020204" pitchFamily="34" charset="0"/>
                        </a:rPr>
                        <a:t>• Motor runs normally (MOSFET is ON). </a:t>
                      </a:r>
                    </a:p>
                    <a:p>
                      <a:endParaRPr lang="en-US" sz="1600" b="0" dirty="0">
                        <a:solidFill>
                          <a:schemeClr val="tx1"/>
                        </a:solidFill>
                        <a:latin typeface="Arial" panose="020B0604020202020204" pitchFamily="34" charset="0"/>
                        <a:cs typeface="Arial" panose="020B0604020202020204" pitchFamily="34" charset="0"/>
                      </a:endParaRPr>
                    </a:p>
                    <a:p>
                      <a:r>
                        <a:rPr lang="en-US" sz="1600" b="0" dirty="0">
                          <a:solidFill>
                            <a:schemeClr val="tx1"/>
                          </a:solidFill>
                          <a:latin typeface="Arial" panose="020B0604020202020204" pitchFamily="34" charset="0"/>
                          <a:cs typeface="Arial" panose="020B0604020202020204" pitchFamily="34" charset="0"/>
                        </a:rPr>
                        <a:t>2. Instant Fault Trip (VSTRESS ≥ 3.0V): </a:t>
                      </a:r>
                    </a:p>
                    <a:p>
                      <a:r>
                        <a:rPr lang="en-US" sz="1600" b="0" dirty="0">
                          <a:solidFill>
                            <a:schemeClr val="tx1"/>
                          </a:solidFill>
                          <a:latin typeface="Arial" panose="020B0604020202020204" pitchFamily="34" charset="0"/>
                          <a:cs typeface="Arial" panose="020B0604020202020204" pitchFamily="34" charset="0"/>
                        </a:rPr>
                        <a:t>• Output drops to LOW (0V). </a:t>
                      </a:r>
                    </a:p>
                    <a:p>
                      <a:r>
                        <a:rPr lang="en-US" sz="1600" b="0" dirty="0">
                          <a:solidFill>
                            <a:schemeClr val="tx1"/>
                          </a:solidFill>
                          <a:latin typeface="Arial" panose="020B0604020202020204" pitchFamily="34" charset="0"/>
                          <a:cs typeface="Arial" panose="020B0604020202020204" pitchFamily="34" charset="0"/>
                        </a:rPr>
                        <a:t>• Diode D4 rapidly dumps capacitor C6 charge. </a:t>
                      </a:r>
                    </a:p>
                    <a:p>
                      <a:r>
                        <a:rPr lang="en-US" sz="1600" b="0" dirty="0">
                          <a:solidFill>
                            <a:schemeClr val="tx1"/>
                          </a:solidFill>
                          <a:latin typeface="Arial" panose="020B0604020202020204" pitchFamily="34" charset="0"/>
                          <a:cs typeface="Arial" panose="020B0604020202020204" pitchFamily="34" charset="0"/>
                        </a:rPr>
                        <a:t>• Motor shuts OFF immediately (MOSFET turns OFF). </a:t>
                      </a:r>
                    </a:p>
                    <a:p>
                      <a:endParaRPr lang="en-US" sz="1600" b="0" dirty="0">
                        <a:solidFill>
                          <a:schemeClr val="tx1"/>
                        </a:solidFill>
                        <a:latin typeface="Arial" panose="020B0604020202020204" pitchFamily="34" charset="0"/>
                        <a:cs typeface="Arial" panose="020B0604020202020204" pitchFamily="34" charset="0"/>
                      </a:endParaRPr>
                    </a:p>
                    <a:p>
                      <a:r>
                        <a:rPr lang="en-US" sz="1600" b="0" dirty="0">
                          <a:solidFill>
                            <a:schemeClr val="tx1"/>
                          </a:solidFill>
                          <a:latin typeface="Arial" panose="020B0604020202020204" pitchFamily="34" charset="0"/>
                          <a:cs typeface="Arial" panose="020B0604020202020204" pitchFamily="34" charset="0"/>
                        </a:rPr>
                        <a:t>3. Fault Clears (VSTRESS drops below 3.0V): </a:t>
                      </a:r>
                    </a:p>
                    <a:p>
                      <a:r>
                        <a:rPr lang="en-US" sz="1600" b="0" dirty="0">
                          <a:solidFill>
                            <a:schemeClr val="tx1"/>
                          </a:solidFill>
                          <a:latin typeface="Arial" panose="020B0604020202020204" pitchFamily="34" charset="0"/>
                          <a:cs typeface="Arial" panose="020B0604020202020204" pitchFamily="34" charset="0"/>
                        </a:rPr>
                        <a:t>• Output switches back to HIGH (6V). </a:t>
                      </a:r>
                    </a:p>
                    <a:p>
                      <a:r>
                        <a:rPr lang="en-US" sz="1600" b="0" dirty="0">
                          <a:solidFill>
                            <a:schemeClr val="tx1"/>
                          </a:solidFill>
                          <a:latin typeface="Arial" panose="020B0604020202020204" pitchFamily="34" charset="0"/>
                          <a:cs typeface="Arial" panose="020B0604020202020204" pitchFamily="34" charset="0"/>
                        </a:rPr>
                        <a:t>• Diode D4 blocks reverse current, forcing C6 to charge slowly through R17. </a:t>
                      </a:r>
                    </a:p>
                    <a:p>
                      <a:endParaRPr lang="en-US" sz="1600" b="0" dirty="0">
                        <a:solidFill>
                          <a:schemeClr val="tx1"/>
                        </a:solidFill>
                        <a:latin typeface="Arial" panose="020B0604020202020204" pitchFamily="34" charset="0"/>
                        <a:cs typeface="Arial" panose="020B0604020202020204" pitchFamily="34" charset="0"/>
                      </a:endParaRPr>
                    </a:p>
                    <a:p>
                      <a:r>
                        <a:rPr lang="en-US" sz="1600" b="0" dirty="0">
                          <a:solidFill>
                            <a:schemeClr val="tx1"/>
                          </a:solidFill>
                          <a:latin typeface="Arial" panose="020B0604020202020204" pitchFamily="34" charset="0"/>
                          <a:cs typeface="Arial" panose="020B0604020202020204" pitchFamily="34" charset="0"/>
                        </a:rPr>
                        <a:t>4. Auto-Restart (3.0-Second Delay): </a:t>
                      </a:r>
                    </a:p>
                    <a:p>
                      <a:r>
                        <a:rPr lang="en-US" sz="1600" b="0" dirty="0">
                          <a:solidFill>
                            <a:schemeClr val="tx1"/>
                          </a:solidFill>
                          <a:latin typeface="Arial" panose="020B0604020202020204" pitchFamily="34" charset="0"/>
                          <a:cs typeface="Arial" panose="020B0604020202020204" pitchFamily="34" charset="0"/>
                        </a:rPr>
                        <a:t>• After ~3 seconds (</a:t>
                      </a:r>
                      <a:r>
                        <a:rPr lang="el-GR" sz="1600" b="0" dirty="0">
                          <a:solidFill>
                            <a:schemeClr val="tx1"/>
                          </a:solidFill>
                          <a:latin typeface="Arial" panose="020B0604020202020204" pitchFamily="34" charset="0"/>
                          <a:cs typeface="Arial" panose="020B0604020202020204" pitchFamily="34" charset="0"/>
                        </a:rPr>
                        <a:t>τ = 300</a:t>
                      </a:r>
                      <a:r>
                        <a:rPr lang="en-US" sz="1600" b="0" dirty="0">
                          <a:solidFill>
                            <a:schemeClr val="tx1"/>
                          </a:solidFill>
                          <a:latin typeface="Arial" panose="020B0604020202020204" pitchFamily="34" charset="0"/>
                          <a:cs typeface="Arial" panose="020B0604020202020204" pitchFamily="34" charset="0"/>
                        </a:rPr>
                        <a:t>k</a:t>
                      </a:r>
                      <a:r>
                        <a:rPr lang="el-GR" sz="1600" b="0" dirty="0">
                          <a:solidFill>
                            <a:schemeClr val="tx1"/>
                          </a:solidFill>
                          <a:latin typeface="Arial" panose="020B0604020202020204" pitchFamily="34" charset="0"/>
                          <a:cs typeface="Arial" panose="020B0604020202020204" pitchFamily="34" charset="0"/>
                        </a:rPr>
                        <a:t>Ω × 10µ</a:t>
                      </a:r>
                      <a:r>
                        <a:rPr lang="en-US" sz="1600" b="0" dirty="0">
                          <a:solidFill>
                            <a:schemeClr val="tx1"/>
                          </a:solidFill>
                          <a:latin typeface="Arial" panose="020B0604020202020204" pitchFamily="34" charset="0"/>
                          <a:cs typeface="Arial" panose="020B0604020202020204" pitchFamily="34" charset="0"/>
                        </a:rPr>
                        <a:t>F), C6 recharges. </a:t>
                      </a:r>
                    </a:p>
                    <a:p>
                      <a:r>
                        <a:rPr lang="en-US" sz="1600" b="0" dirty="0">
                          <a:solidFill>
                            <a:schemeClr val="tx1"/>
                          </a:solidFill>
                          <a:latin typeface="Arial" panose="020B0604020202020204" pitchFamily="34" charset="0"/>
                          <a:cs typeface="Arial" panose="020B0604020202020204" pitchFamily="34" charset="0"/>
                        </a:rPr>
                        <a:t>• Motor automatically turns back ON safely.</a:t>
                      </a:r>
                    </a:p>
                    <a:p>
                      <a:endParaRPr lang="en-US" dirty="0"/>
                    </a:p>
                  </a:txBody>
                  <a:tcPr>
                    <a:noFill/>
                  </a:tcPr>
                </a:tc>
                <a:tc>
                  <a:txBody>
                    <a:bodyPr/>
                    <a:lstStyle/>
                    <a:p>
                      <a:endParaRPr lang="en-US" dirty="0"/>
                    </a:p>
                  </a:txBody>
                  <a:tcPr>
                    <a:noFill/>
                  </a:tcPr>
                </a:tc>
                <a:extLst>
                  <a:ext uri="{0D108BD9-81ED-4DB2-BD59-A6C34878D82A}">
                    <a16:rowId xmlns:a16="http://schemas.microsoft.com/office/drawing/2014/main" val="2842765368"/>
                  </a:ext>
                </a:extLst>
              </a:tr>
            </a:tbl>
          </a:graphicData>
        </a:graphic>
      </p:graphicFrame>
      <p:pic>
        <p:nvPicPr>
          <p:cNvPr id="14" name="Picture 13">
            <a:extLst>
              <a:ext uri="{FF2B5EF4-FFF2-40B4-BE49-F238E27FC236}">
                <a16:creationId xmlns:a16="http://schemas.microsoft.com/office/drawing/2014/main" id="{9A5108F5-008E-1650-059F-FD98BD90C700}"/>
              </a:ext>
            </a:extLst>
          </p:cNvPr>
          <p:cNvPicPr>
            <a:picLocks noChangeAspect="1"/>
          </p:cNvPicPr>
          <p:nvPr/>
        </p:nvPicPr>
        <p:blipFill>
          <a:blip r:embed="rId3"/>
          <a:stretch>
            <a:fillRect/>
          </a:stretch>
        </p:blipFill>
        <p:spPr>
          <a:xfrm>
            <a:off x="6096000" y="2088341"/>
            <a:ext cx="5942081" cy="3073348"/>
          </a:xfrm>
          <a:prstGeom prst="rect">
            <a:avLst/>
          </a:prstGeom>
        </p:spPr>
      </p:pic>
    </p:spTree>
    <p:extLst>
      <p:ext uri="{BB962C8B-B14F-4D97-AF65-F5344CB8AC3E}">
        <p14:creationId xmlns:p14="http://schemas.microsoft.com/office/powerpoint/2010/main" val="2198464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B2D1-3A18-E386-DC00-39880CC1D5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D99614-AEE8-B0AC-5B09-B79290C73512}"/>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6EF02688-0DBF-2EB9-637D-D788D62BA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2B57E71-1A42-6BF7-07AF-29EC17420CAD}"/>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E7445BA9-3773-4ADE-7341-A04FD691AAC1}"/>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3DB81CF-F2E8-CF0D-4D0D-9C20C24695A2}"/>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sp>
        <p:nvSpPr>
          <p:cNvPr id="11" name="TextBox 10">
            <a:extLst>
              <a:ext uri="{FF2B5EF4-FFF2-40B4-BE49-F238E27FC236}">
                <a16:creationId xmlns:a16="http://schemas.microsoft.com/office/drawing/2014/main" id="{1BDF9618-3BD8-3823-1084-EEB27B7A6F7A}"/>
              </a:ext>
            </a:extLst>
          </p:cNvPr>
          <p:cNvSpPr txBox="1"/>
          <p:nvPr/>
        </p:nvSpPr>
        <p:spPr>
          <a:xfrm>
            <a:off x="397695" y="1294184"/>
            <a:ext cx="5698305" cy="2739211"/>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4.3 Output &amp; Timing Hardware</a:t>
            </a:r>
          </a:p>
          <a:p>
            <a:endParaRPr lang="en-US" sz="2800" dirty="0"/>
          </a:p>
          <a:p>
            <a:r>
              <a:rPr lang="en-US" sz="2000" dirty="0">
                <a:latin typeface="Arial" panose="020B0604020202020204" pitchFamily="34" charset="0"/>
                <a:cs typeface="Arial" panose="020B0604020202020204" pitchFamily="34" charset="0"/>
              </a:rPr>
              <a:t>• Power Driver: IRF540 MOSFET operating strictly in saturation (VGS = 6V ON) or cutoff (VGS = 0V OFF)</a:t>
            </a:r>
          </a:p>
          <a:p>
            <a:r>
              <a:rPr lang="en-US" sz="2000" dirty="0">
                <a:latin typeface="Arial" panose="020B0604020202020204" pitchFamily="34" charset="0"/>
                <a:cs typeface="Arial" panose="020B0604020202020204" pitchFamily="34" charset="0"/>
              </a:rPr>
              <a:t>• Inductive Protection: 1N4007 flyback diode placed in parallel across the MY1016 motor to clamp inductive voltage spikes during cutoff</a:t>
            </a:r>
          </a:p>
        </p:txBody>
      </p:sp>
      <p:pic>
        <p:nvPicPr>
          <p:cNvPr id="10" name="Picture 9">
            <a:extLst>
              <a:ext uri="{FF2B5EF4-FFF2-40B4-BE49-F238E27FC236}">
                <a16:creationId xmlns:a16="http://schemas.microsoft.com/office/drawing/2014/main" id="{554F365A-F3D4-2D56-137F-E8E0C3154DF8}"/>
              </a:ext>
            </a:extLst>
          </p:cNvPr>
          <p:cNvPicPr>
            <a:picLocks noChangeAspect="1"/>
          </p:cNvPicPr>
          <p:nvPr/>
        </p:nvPicPr>
        <p:blipFill>
          <a:blip r:embed="rId3"/>
          <a:stretch>
            <a:fillRect/>
          </a:stretch>
        </p:blipFill>
        <p:spPr>
          <a:xfrm>
            <a:off x="6383827" y="1424258"/>
            <a:ext cx="5410478" cy="4407126"/>
          </a:xfrm>
          <a:prstGeom prst="rect">
            <a:avLst/>
          </a:prstGeom>
        </p:spPr>
      </p:pic>
    </p:spTree>
    <p:extLst>
      <p:ext uri="{BB962C8B-B14F-4D97-AF65-F5344CB8AC3E}">
        <p14:creationId xmlns:p14="http://schemas.microsoft.com/office/powerpoint/2010/main" val="195649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47C0A-E241-401D-92C2-52624665DA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84F86D-14A1-1742-CBC1-547219AFAE49}"/>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EAED5777-0DD4-A2BA-5267-D10D9769B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E0E9D6-E8D2-D7B2-4743-2622CE619333}"/>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E53A3A2A-09DE-9FEB-ED11-0B9F21C0989E}"/>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651FAA-A8EB-4B7F-5341-3DF69ED0D1EF}"/>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pic>
        <p:nvPicPr>
          <p:cNvPr id="9" name="Picture 8">
            <a:extLst>
              <a:ext uri="{FF2B5EF4-FFF2-40B4-BE49-F238E27FC236}">
                <a16:creationId xmlns:a16="http://schemas.microsoft.com/office/drawing/2014/main" id="{D3E2D08B-A4AB-6CFA-50C2-942F6D8C3405}"/>
              </a:ext>
            </a:extLst>
          </p:cNvPr>
          <p:cNvPicPr>
            <a:picLocks noChangeAspect="1"/>
          </p:cNvPicPr>
          <p:nvPr/>
        </p:nvPicPr>
        <p:blipFill>
          <a:blip r:embed="rId3"/>
          <a:stretch>
            <a:fillRect/>
          </a:stretch>
        </p:blipFill>
        <p:spPr>
          <a:xfrm>
            <a:off x="4293315" y="1202636"/>
            <a:ext cx="7619143" cy="4872214"/>
          </a:xfrm>
          <a:prstGeom prst="rect">
            <a:avLst/>
          </a:prstGeom>
        </p:spPr>
      </p:pic>
      <p:sp>
        <p:nvSpPr>
          <p:cNvPr id="13" name="TextBox 12">
            <a:extLst>
              <a:ext uri="{FF2B5EF4-FFF2-40B4-BE49-F238E27FC236}">
                <a16:creationId xmlns:a16="http://schemas.microsoft.com/office/drawing/2014/main" id="{E3DFEBCE-AF8F-14E3-5ADD-2D0C90060928}"/>
              </a:ext>
            </a:extLst>
          </p:cNvPr>
          <p:cNvSpPr txBox="1"/>
          <p:nvPr/>
        </p:nvSpPr>
        <p:spPr>
          <a:xfrm>
            <a:off x="181509" y="1234018"/>
            <a:ext cx="3907606"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Complete System Schematic:</a:t>
            </a:r>
          </a:p>
        </p:txBody>
      </p:sp>
    </p:spTree>
    <p:extLst>
      <p:ext uri="{BB962C8B-B14F-4D97-AF65-F5344CB8AC3E}">
        <p14:creationId xmlns:p14="http://schemas.microsoft.com/office/powerpoint/2010/main" val="3627284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72DB1-4A4F-8D15-B64A-CDDD498A747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355BD9-65B8-6523-90D8-F799DE6BB303}"/>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63D0238D-F4D0-C75C-2370-3BFCAC90F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7E5432-924D-CCD7-1C7E-E0D1FB908187}"/>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82E07F1D-4384-CE61-7378-9B6754CB5AF6}"/>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0205D88-0EFD-BD5F-B48C-DD85FC7698EF}"/>
              </a:ext>
            </a:extLst>
          </p:cNvPr>
          <p:cNvSpPr txBox="1"/>
          <p:nvPr/>
        </p:nvSpPr>
        <p:spPr>
          <a:xfrm>
            <a:off x="3208106" y="144398"/>
            <a:ext cx="5775788" cy="769441"/>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4. Implementation</a:t>
            </a:r>
          </a:p>
        </p:txBody>
      </p:sp>
      <p:pic>
        <p:nvPicPr>
          <p:cNvPr id="9" name="Picture 8">
            <a:extLst>
              <a:ext uri="{FF2B5EF4-FFF2-40B4-BE49-F238E27FC236}">
                <a16:creationId xmlns:a16="http://schemas.microsoft.com/office/drawing/2014/main" id="{C052E884-94AC-64EF-58DD-DF50AA08F303}"/>
              </a:ext>
            </a:extLst>
          </p:cNvPr>
          <p:cNvPicPr>
            <a:picLocks noChangeAspect="1"/>
          </p:cNvPicPr>
          <p:nvPr/>
        </p:nvPicPr>
        <p:blipFill>
          <a:blip r:embed="rId3"/>
          <a:stretch>
            <a:fillRect/>
          </a:stretch>
        </p:blipFill>
        <p:spPr>
          <a:xfrm>
            <a:off x="4293315" y="1202636"/>
            <a:ext cx="7619143" cy="4872214"/>
          </a:xfrm>
          <a:prstGeom prst="rect">
            <a:avLst/>
          </a:prstGeom>
        </p:spPr>
      </p:pic>
      <p:sp>
        <p:nvSpPr>
          <p:cNvPr id="13" name="TextBox 12">
            <a:extLst>
              <a:ext uri="{FF2B5EF4-FFF2-40B4-BE49-F238E27FC236}">
                <a16:creationId xmlns:a16="http://schemas.microsoft.com/office/drawing/2014/main" id="{0C740C87-D943-20A0-3150-FDAB82FE2610}"/>
              </a:ext>
            </a:extLst>
          </p:cNvPr>
          <p:cNvSpPr txBox="1"/>
          <p:nvPr/>
        </p:nvSpPr>
        <p:spPr>
          <a:xfrm>
            <a:off x="181509" y="1234018"/>
            <a:ext cx="3907606"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Complete System Schematic:</a:t>
            </a:r>
          </a:p>
        </p:txBody>
      </p:sp>
      <p:sp>
        <p:nvSpPr>
          <p:cNvPr id="14" name="Rectangle 13">
            <a:extLst>
              <a:ext uri="{FF2B5EF4-FFF2-40B4-BE49-F238E27FC236}">
                <a16:creationId xmlns:a16="http://schemas.microsoft.com/office/drawing/2014/main" id="{C0C35B09-B4B2-E5AA-AE52-FA62C67FAC7B}"/>
              </a:ext>
            </a:extLst>
          </p:cNvPr>
          <p:cNvSpPr/>
          <p:nvPr/>
        </p:nvSpPr>
        <p:spPr>
          <a:xfrm>
            <a:off x="4412322" y="1139218"/>
            <a:ext cx="4613097" cy="14293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66832D2-9A72-D4B7-7A31-9BD9E4D0D6C9}"/>
              </a:ext>
            </a:extLst>
          </p:cNvPr>
          <p:cNvSpPr/>
          <p:nvPr/>
        </p:nvSpPr>
        <p:spPr>
          <a:xfrm>
            <a:off x="4397339" y="2712378"/>
            <a:ext cx="3123344" cy="142932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05624BF-EEF7-7AEE-F822-CC9703DB208A}"/>
              </a:ext>
            </a:extLst>
          </p:cNvPr>
          <p:cNvSpPr/>
          <p:nvPr/>
        </p:nvSpPr>
        <p:spPr>
          <a:xfrm>
            <a:off x="9123452" y="1139218"/>
            <a:ext cx="2887039" cy="3247847"/>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0D7B4D-75B6-B76C-6B82-52ADE65F2C93}"/>
              </a:ext>
            </a:extLst>
          </p:cNvPr>
          <p:cNvSpPr/>
          <p:nvPr/>
        </p:nvSpPr>
        <p:spPr>
          <a:xfrm>
            <a:off x="6298058" y="4232953"/>
            <a:ext cx="3729520" cy="1841897"/>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162B628-9CA7-FB92-6B98-96A95A6AC846}"/>
              </a:ext>
            </a:extLst>
          </p:cNvPr>
          <p:cNvSpPr txBox="1"/>
          <p:nvPr/>
        </p:nvSpPr>
        <p:spPr>
          <a:xfrm>
            <a:off x="181509" y="2327204"/>
            <a:ext cx="4013773" cy="2862322"/>
          </a:xfrm>
          <a:prstGeom prst="rect">
            <a:avLst/>
          </a:prstGeom>
          <a:noFill/>
        </p:spPr>
        <p:txBody>
          <a:bodyPr wrap="square">
            <a:spAutoFit/>
          </a:bodyPr>
          <a:lstStyle/>
          <a:p>
            <a:r>
              <a:rPr lang="en-US" b="1" dirty="0">
                <a:solidFill>
                  <a:srgbClr val="FF0000"/>
                </a:solidFill>
                <a:latin typeface="Arial" panose="020B0604020202020204" pitchFamily="34" charset="0"/>
                <a:cs typeface="Arial" panose="020B0604020202020204" pitchFamily="34" charset="0"/>
              </a:rPr>
              <a:t>1. Load Averaging &amp; Overcurrent Signal Conditioning</a:t>
            </a:r>
          </a:p>
          <a:p>
            <a:endParaRPr lang="en-US" b="1" dirty="0">
              <a:solidFill>
                <a:srgbClr val="FF0000"/>
              </a:solidFill>
              <a:latin typeface="Arial" panose="020B0604020202020204" pitchFamily="34" charset="0"/>
              <a:cs typeface="Arial" panose="020B0604020202020204" pitchFamily="34" charset="0"/>
            </a:endParaRPr>
          </a:p>
          <a:p>
            <a:r>
              <a:rPr lang="en-US" b="1" dirty="0">
                <a:solidFill>
                  <a:schemeClr val="accent1">
                    <a:lumMod val="50000"/>
                  </a:schemeClr>
                </a:solidFill>
                <a:latin typeface="Arial" panose="020B0604020202020204" pitchFamily="34" charset="0"/>
                <a:cs typeface="Arial" panose="020B0604020202020204" pitchFamily="34" charset="0"/>
              </a:rPr>
              <a:t>2. Thermal Fault Signal Processing</a:t>
            </a:r>
            <a:br>
              <a:rPr lang="en-US" b="1" dirty="0">
                <a:solidFill>
                  <a:schemeClr val="accent1">
                    <a:lumMod val="50000"/>
                  </a:schemeClr>
                </a:solidFill>
                <a:latin typeface="Arial" panose="020B0604020202020204" pitchFamily="34" charset="0"/>
                <a:cs typeface="Arial" panose="020B0604020202020204" pitchFamily="34" charset="0"/>
              </a:rPr>
            </a:br>
            <a:endParaRPr lang="en-US" b="1" dirty="0">
              <a:solidFill>
                <a:schemeClr val="accent1">
                  <a:lumMod val="50000"/>
                </a:schemeClr>
              </a:solidFill>
              <a:latin typeface="Arial" panose="020B0604020202020204" pitchFamily="34" charset="0"/>
              <a:cs typeface="Arial" panose="020B0604020202020204" pitchFamily="34" charset="0"/>
            </a:endParaRPr>
          </a:p>
          <a:p>
            <a:r>
              <a:rPr lang="en-US" b="1" dirty="0">
                <a:solidFill>
                  <a:srgbClr val="FFC000"/>
                </a:solidFill>
                <a:latin typeface="Arial" panose="020B0604020202020204" pitchFamily="34" charset="0"/>
                <a:cs typeface="Arial" panose="020B0604020202020204" pitchFamily="34" charset="0"/>
              </a:rPr>
              <a:t>3. Stress Aggregation &amp; Fault Decision Logic</a:t>
            </a:r>
            <a:br>
              <a:rPr lang="en-US" b="1" dirty="0">
                <a:solidFill>
                  <a:srgbClr val="FFC000"/>
                </a:solidFill>
                <a:latin typeface="Arial" panose="020B0604020202020204" pitchFamily="34" charset="0"/>
                <a:cs typeface="Arial" panose="020B0604020202020204" pitchFamily="34" charset="0"/>
              </a:rPr>
            </a:br>
            <a:endParaRPr lang="en-US" b="1" dirty="0">
              <a:solidFill>
                <a:srgbClr val="FFC000"/>
              </a:solidFill>
              <a:latin typeface="Arial" panose="020B0604020202020204" pitchFamily="34" charset="0"/>
              <a:cs typeface="Arial" panose="020B0604020202020204" pitchFamily="34" charset="0"/>
            </a:endParaRPr>
          </a:p>
          <a:p>
            <a:r>
              <a:rPr lang="en-US" b="1" dirty="0">
                <a:solidFill>
                  <a:srgbClr val="00B050"/>
                </a:solidFill>
                <a:latin typeface="Arial" panose="020B0604020202020204" pitchFamily="34" charset="0"/>
                <a:cs typeface="Arial" panose="020B0604020202020204" pitchFamily="34" charset="0"/>
              </a:rPr>
              <a:t>4. Gate Drive Buffer &amp; Power Output Interface</a:t>
            </a:r>
          </a:p>
        </p:txBody>
      </p:sp>
      <p:sp>
        <p:nvSpPr>
          <p:cNvPr id="15" name="TextBox 14">
            <a:extLst>
              <a:ext uri="{FF2B5EF4-FFF2-40B4-BE49-F238E27FC236}">
                <a16:creationId xmlns:a16="http://schemas.microsoft.com/office/drawing/2014/main" id="{760CF9D0-1325-BE58-FA86-08450A243807}"/>
              </a:ext>
            </a:extLst>
          </p:cNvPr>
          <p:cNvSpPr txBox="1"/>
          <p:nvPr/>
        </p:nvSpPr>
        <p:spPr>
          <a:xfrm>
            <a:off x="4592548" y="1292611"/>
            <a:ext cx="544530" cy="400110"/>
          </a:xfrm>
          <a:prstGeom prst="rect">
            <a:avLst/>
          </a:prstGeom>
          <a:solidFill>
            <a:srgbClr val="C00000"/>
          </a:solidFill>
        </p:spPr>
        <p:txBody>
          <a:bodyPr wrap="square" rtlCol="0">
            <a:spAutoFit/>
          </a:bodyPr>
          <a:lstStyle/>
          <a:p>
            <a:pPr algn="ctr"/>
            <a:r>
              <a:rPr lang="en-US" sz="2000" b="1" dirty="0">
                <a:solidFill>
                  <a:schemeClr val="bg1"/>
                </a:solidFill>
              </a:rPr>
              <a:t>1</a:t>
            </a:r>
          </a:p>
        </p:txBody>
      </p:sp>
      <p:sp>
        <p:nvSpPr>
          <p:cNvPr id="16" name="TextBox 15">
            <a:extLst>
              <a:ext uri="{FF2B5EF4-FFF2-40B4-BE49-F238E27FC236}">
                <a16:creationId xmlns:a16="http://schemas.microsoft.com/office/drawing/2014/main" id="{605F0DC0-36F6-1512-8697-6FC4C45C76BC}"/>
              </a:ext>
            </a:extLst>
          </p:cNvPr>
          <p:cNvSpPr txBox="1"/>
          <p:nvPr/>
        </p:nvSpPr>
        <p:spPr>
          <a:xfrm>
            <a:off x="4571999" y="2805694"/>
            <a:ext cx="544530" cy="400110"/>
          </a:xfrm>
          <a:prstGeom prst="rect">
            <a:avLst/>
          </a:prstGeom>
          <a:solidFill>
            <a:schemeClr val="accent1">
              <a:lumMod val="50000"/>
            </a:schemeClr>
          </a:solidFill>
        </p:spPr>
        <p:txBody>
          <a:bodyPr wrap="square" rtlCol="0">
            <a:spAutoFit/>
          </a:bodyPr>
          <a:lstStyle/>
          <a:p>
            <a:pPr algn="ctr"/>
            <a:r>
              <a:rPr lang="en-US" sz="2000" b="1" dirty="0">
                <a:solidFill>
                  <a:schemeClr val="bg1"/>
                </a:solidFill>
              </a:rPr>
              <a:t>2</a:t>
            </a:r>
          </a:p>
        </p:txBody>
      </p:sp>
      <p:sp>
        <p:nvSpPr>
          <p:cNvPr id="17" name="TextBox 16">
            <a:extLst>
              <a:ext uri="{FF2B5EF4-FFF2-40B4-BE49-F238E27FC236}">
                <a16:creationId xmlns:a16="http://schemas.microsoft.com/office/drawing/2014/main" id="{2D44EECD-2B04-2B56-03EE-876FB4B3A2B6}"/>
              </a:ext>
            </a:extLst>
          </p:cNvPr>
          <p:cNvSpPr txBox="1"/>
          <p:nvPr/>
        </p:nvSpPr>
        <p:spPr>
          <a:xfrm>
            <a:off x="11242713" y="1502020"/>
            <a:ext cx="544530" cy="400110"/>
          </a:xfrm>
          <a:prstGeom prst="rect">
            <a:avLst/>
          </a:prstGeom>
          <a:solidFill>
            <a:srgbClr val="FFFF00"/>
          </a:solidFill>
          <a:ln>
            <a:solidFill>
              <a:schemeClr val="tx1">
                <a:lumMod val="95000"/>
                <a:lumOff val="5000"/>
              </a:schemeClr>
            </a:solidFill>
          </a:ln>
        </p:spPr>
        <p:txBody>
          <a:bodyPr wrap="square" rtlCol="0">
            <a:spAutoFit/>
          </a:bodyPr>
          <a:lstStyle/>
          <a:p>
            <a:pPr algn="ctr"/>
            <a:r>
              <a:rPr lang="en-US" sz="2000" b="1" dirty="0"/>
              <a:t>3</a:t>
            </a:r>
          </a:p>
        </p:txBody>
      </p:sp>
      <p:sp>
        <p:nvSpPr>
          <p:cNvPr id="18" name="TextBox 17">
            <a:extLst>
              <a:ext uri="{FF2B5EF4-FFF2-40B4-BE49-F238E27FC236}">
                <a16:creationId xmlns:a16="http://schemas.microsoft.com/office/drawing/2014/main" id="{B4963220-DE06-E384-B450-19FAA40CB462}"/>
              </a:ext>
            </a:extLst>
          </p:cNvPr>
          <p:cNvSpPr txBox="1"/>
          <p:nvPr/>
        </p:nvSpPr>
        <p:spPr>
          <a:xfrm>
            <a:off x="6718870" y="4518920"/>
            <a:ext cx="544530" cy="400110"/>
          </a:xfrm>
          <a:prstGeom prst="rect">
            <a:avLst/>
          </a:prstGeom>
          <a:solidFill>
            <a:srgbClr val="00B050"/>
          </a:solidFill>
        </p:spPr>
        <p:txBody>
          <a:bodyPr wrap="square" rtlCol="0">
            <a:spAutoFit/>
          </a:bodyPr>
          <a:lstStyle/>
          <a:p>
            <a:pPr algn="ctr"/>
            <a:r>
              <a:rPr lang="en-US" sz="2000" b="1" dirty="0">
                <a:solidFill>
                  <a:schemeClr val="bg1"/>
                </a:solidFill>
              </a:rPr>
              <a:t>4</a:t>
            </a:r>
          </a:p>
        </p:txBody>
      </p:sp>
    </p:spTree>
    <p:extLst>
      <p:ext uri="{BB962C8B-B14F-4D97-AF65-F5344CB8AC3E}">
        <p14:creationId xmlns:p14="http://schemas.microsoft.com/office/powerpoint/2010/main" val="1819430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39E1-F55B-12A9-8296-64A2E1D958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FC4EA7-E6EF-A9EF-3C26-8A2F49260C3C}"/>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94A6811F-F4DF-E2B1-C412-649D74A74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EB25C2F-7058-5120-CEE1-F1B2E246DF3D}"/>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7BA420AD-44FF-B021-8586-30C84FED0637}"/>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633A7DC-6C6D-5E54-CF1C-5E66EEBB19FD}"/>
              </a:ext>
            </a:extLst>
          </p:cNvPr>
          <p:cNvSpPr txBox="1"/>
          <p:nvPr/>
        </p:nvSpPr>
        <p:spPr>
          <a:xfrm>
            <a:off x="2448666" y="98527"/>
            <a:ext cx="8586627" cy="1446550"/>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5. </a:t>
            </a:r>
            <a:r>
              <a:rPr lang="en-US" sz="4400" b="1" kern="1200" dirty="0">
                <a:solidFill>
                  <a:schemeClr val="bg1"/>
                </a:solidFill>
                <a:effectLst/>
                <a:latin typeface="Century Gothic" panose="020B0502020202020204" pitchFamily="34" charset="0"/>
                <a:cs typeface="Arial" panose="020B0604020202020204" pitchFamily="34" charset="0"/>
              </a:rPr>
              <a:t>Analysis and Evaluation</a:t>
            </a:r>
            <a:endParaRPr lang="en-US" sz="4400" b="1" dirty="0">
              <a:solidFill>
                <a:schemeClr val="bg1"/>
              </a:solidFill>
              <a:effectLst/>
              <a:latin typeface="Century Gothic" panose="020B0502020202020204" pitchFamily="34" charset="0"/>
            </a:endParaRPr>
          </a:p>
          <a:p>
            <a:pPr algn="ctr"/>
            <a:endParaRPr lang="en-US" sz="4400" b="1" dirty="0">
              <a:solidFill>
                <a:schemeClr val="bg1"/>
              </a:solidFill>
              <a:latin typeface="Century Gothic" panose="020B0502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D8B6B28-2C84-8670-6A8A-E48DB758013C}"/>
              </a:ext>
            </a:extLst>
          </p:cNvPr>
          <p:cNvSpPr txBox="1"/>
          <p:nvPr/>
        </p:nvSpPr>
        <p:spPr>
          <a:xfrm>
            <a:off x="469614" y="1314244"/>
            <a:ext cx="3662301" cy="830997"/>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5.1 Transient Immunity Test (Current Spike)</a:t>
            </a:r>
          </a:p>
        </p:txBody>
      </p:sp>
      <p:sp>
        <p:nvSpPr>
          <p:cNvPr id="11" name="TextBox 10">
            <a:extLst>
              <a:ext uri="{FF2B5EF4-FFF2-40B4-BE49-F238E27FC236}">
                <a16:creationId xmlns:a16="http://schemas.microsoft.com/office/drawing/2014/main" id="{32FD9C3D-DC2E-7534-7478-4F7AF02198A5}"/>
              </a:ext>
            </a:extLst>
          </p:cNvPr>
          <p:cNvSpPr txBox="1"/>
          <p:nvPr/>
        </p:nvSpPr>
        <p:spPr>
          <a:xfrm>
            <a:off x="469614" y="2557476"/>
            <a:ext cx="3366498" cy="707886"/>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2 - 3× rated current (~20A–30A) with duration &lt; 100ms.</a:t>
            </a:r>
          </a:p>
        </p:txBody>
      </p:sp>
      <p:pic>
        <p:nvPicPr>
          <p:cNvPr id="15" name="Picture 14" descr="Screenshot 2026-09-18 152207">
            <a:extLst>
              <a:ext uri="{FF2B5EF4-FFF2-40B4-BE49-F238E27FC236}">
                <a16:creationId xmlns:a16="http://schemas.microsoft.com/office/drawing/2014/main" id="{236D4BCF-012D-A6C6-BA7B-FF492A009BC1}"/>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4560198" y="1058238"/>
            <a:ext cx="7388994" cy="5092606"/>
          </a:xfrm>
          <a:prstGeom prst="rect">
            <a:avLst/>
          </a:prstGeom>
        </p:spPr>
      </p:pic>
      <p:sp>
        <p:nvSpPr>
          <p:cNvPr id="17" name="TextBox 16">
            <a:extLst>
              <a:ext uri="{FF2B5EF4-FFF2-40B4-BE49-F238E27FC236}">
                <a16:creationId xmlns:a16="http://schemas.microsoft.com/office/drawing/2014/main" id="{91BC3CFE-A770-FD97-A57B-BA25D75EE984}"/>
              </a:ext>
            </a:extLst>
          </p:cNvPr>
          <p:cNvSpPr txBox="1"/>
          <p:nvPr/>
        </p:nvSpPr>
        <p:spPr>
          <a:xfrm>
            <a:off x="242808" y="5349377"/>
            <a:ext cx="4191855"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*Evaluated at Nominal Operating Temperature (T ≤ 80°C | </a:t>
            </a:r>
            <a:r>
              <a:rPr lang="en-US" dirty="0" err="1">
                <a:latin typeface="Arial" panose="020B0604020202020204" pitchFamily="34" charset="0"/>
                <a:cs typeface="Arial" panose="020B0604020202020204" pitchFamily="34" charset="0"/>
              </a:rPr>
              <a:t>Vtemp</a:t>
            </a:r>
            <a:r>
              <a:rPr lang="en-US" dirty="0">
                <a:latin typeface="Arial" panose="020B0604020202020204" pitchFamily="34" charset="0"/>
                <a:cs typeface="Arial" panose="020B0604020202020204" pitchFamily="34" charset="0"/>
              </a:rPr>
              <a:t> ≤ 0.8V)</a:t>
            </a:r>
          </a:p>
        </p:txBody>
      </p:sp>
    </p:spTree>
    <p:extLst>
      <p:ext uri="{BB962C8B-B14F-4D97-AF65-F5344CB8AC3E}">
        <p14:creationId xmlns:p14="http://schemas.microsoft.com/office/powerpoint/2010/main" val="3088028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CA96-A034-7A27-4BB6-BA09AADCF7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7227AC-3DA1-49E9-83FB-C0E065D6A826}"/>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ED4EA576-1B63-F4EB-7F14-5612968D6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7B68B62-FFCF-6EEE-D33D-F7FA59A48EC5}"/>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0AC30034-7C85-D3D8-0463-85854CDC5A7C}"/>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E8C4A0C-97D2-6CB6-7D91-E2F9D3C3A227}"/>
              </a:ext>
            </a:extLst>
          </p:cNvPr>
          <p:cNvSpPr txBox="1"/>
          <p:nvPr/>
        </p:nvSpPr>
        <p:spPr>
          <a:xfrm>
            <a:off x="2448666" y="98527"/>
            <a:ext cx="8586627" cy="1446550"/>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5. </a:t>
            </a:r>
            <a:r>
              <a:rPr lang="en-US" sz="4400" b="1" kern="1200" dirty="0">
                <a:solidFill>
                  <a:schemeClr val="bg1"/>
                </a:solidFill>
                <a:effectLst/>
                <a:latin typeface="Century Gothic" panose="020B0502020202020204" pitchFamily="34" charset="0"/>
                <a:cs typeface="Arial" panose="020B0604020202020204" pitchFamily="34" charset="0"/>
              </a:rPr>
              <a:t>Analysis and Evaluation</a:t>
            </a:r>
            <a:endParaRPr lang="en-US" sz="4400" b="1" dirty="0">
              <a:solidFill>
                <a:schemeClr val="bg1"/>
              </a:solidFill>
              <a:effectLst/>
              <a:latin typeface="Century Gothic" panose="020B0502020202020204" pitchFamily="34" charset="0"/>
            </a:endParaRPr>
          </a:p>
          <a:p>
            <a:pPr algn="ctr"/>
            <a:endParaRPr lang="en-US" sz="4400" b="1" dirty="0">
              <a:solidFill>
                <a:schemeClr val="bg1"/>
              </a:solidFill>
              <a:latin typeface="Century Gothic" panose="020B0502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98C5957-9E0E-4C34-92EE-605781BF3884}"/>
              </a:ext>
            </a:extLst>
          </p:cNvPr>
          <p:cNvSpPr txBox="1"/>
          <p:nvPr/>
        </p:nvSpPr>
        <p:spPr>
          <a:xfrm>
            <a:off x="596535" y="1412771"/>
            <a:ext cx="3533675" cy="830997"/>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5.2 Overcurrent Fault &amp; Auto-Recovery</a:t>
            </a:r>
          </a:p>
        </p:txBody>
      </p:sp>
      <p:pic>
        <p:nvPicPr>
          <p:cNvPr id="11" name="Picture 10">
            <a:extLst>
              <a:ext uri="{FF2B5EF4-FFF2-40B4-BE49-F238E27FC236}">
                <a16:creationId xmlns:a16="http://schemas.microsoft.com/office/drawing/2014/main" id="{E40BB731-28F1-34CF-C13E-2500B9FC1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814" y="1243074"/>
            <a:ext cx="7080203" cy="4936782"/>
          </a:xfrm>
          <a:prstGeom prst="rect">
            <a:avLst/>
          </a:prstGeom>
        </p:spPr>
      </p:pic>
      <p:sp>
        <p:nvSpPr>
          <p:cNvPr id="13" name="TextBox 12">
            <a:extLst>
              <a:ext uri="{FF2B5EF4-FFF2-40B4-BE49-F238E27FC236}">
                <a16:creationId xmlns:a16="http://schemas.microsoft.com/office/drawing/2014/main" id="{A04AD6D0-781B-F561-258B-7E469FADB5A4}"/>
              </a:ext>
            </a:extLst>
          </p:cNvPr>
          <p:cNvSpPr txBox="1"/>
          <p:nvPr/>
        </p:nvSpPr>
        <p:spPr>
          <a:xfrm>
            <a:off x="242808" y="5349377"/>
            <a:ext cx="4191855"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*Evaluated at Nominal Operating Temperature (T ≤ 80°C | </a:t>
            </a:r>
            <a:r>
              <a:rPr lang="en-US" dirty="0" err="1">
                <a:latin typeface="Arial" panose="020B0604020202020204" pitchFamily="34" charset="0"/>
                <a:cs typeface="Arial" panose="020B0604020202020204" pitchFamily="34" charset="0"/>
              </a:rPr>
              <a:t>Vtemp</a:t>
            </a:r>
            <a:r>
              <a:rPr lang="en-US" dirty="0">
                <a:latin typeface="Arial" panose="020B0604020202020204" pitchFamily="34" charset="0"/>
                <a:cs typeface="Arial" panose="020B0604020202020204" pitchFamily="34" charset="0"/>
              </a:rPr>
              <a:t> ≤ 0.8V)</a:t>
            </a:r>
          </a:p>
        </p:txBody>
      </p:sp>
    </p:spTree>
    <p:extLst>
      <p:ext uri="{BB962C8B-B14F-4D97-AF65-F5344CB8AC3E}">
        <p14:creationId xmlns:p14="http://schemas.microsoft.com/office/powerpoint/2010/main" val="725771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FE41-A94F-0F33-0DF6-776A36958B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9C70A54-24E0-408F-4500-D63E66FECEF3}"/>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8FB73C63-CE38-0C73-53BE-21826D965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4442883-9957-993D-69CB-02169940C486}"/>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817339A6-7AB9-2CEB-6D4C-78AAD2D3C8C8}"/>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0504C6-F47E-450F-0205-FED67B611989}"/>
              </a:ext>
            </a:extLst>
          </p:cNvPr>
          <p:cNvSpPr txBox="1"/>
          <p:nvPr/>
        </p:nvSpPr>
        <p:spPr>
          <a:xfrm>
            <a:off x="2448666" y="98527"/>
            <a:ext cx="8586627" cy="1446550"/>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5. </a:t>
            </a:r>
            <a:r>
              <a:rPr lang="en-US" sz="4400" b="1" kern="1200" dirty="0">
                <a:solidFill>
                  <a:schemeClr val="bg1"/>
                </a:solidFill>
                <a:effectLst/>
                <a:latin typeface="Century Gothic" panose="020B0502020202020204" pitchFamily="34" charset="0"/>
                <a:cs typeface="Arial" panose="020B0604020202020204" pitchFamily="34" charset="0"/>
              </a:rPr>
              <a:t>Analysis and Evaluation</a:t>
            </a:r>
            <a:endParaRPr lang="en-US" sz="4400" b="1" dirty="0">
              <a:solidFill>
                <a:schemeClr val="bg1"/>
              </a:solidFill>
              <a:effectLst/>
              <a:latin typeface="Century Gothic" panose="020B0502020202020204" pitchFamily="34" charset="0"/>
            </a:endParaRPr>
          </a:p>
          <a:p>
            <a:pPr algn="ctr"/>
            <a:endParaRPr lang="en-US" sz="4400" b="1" dirty="0">
              <a:solidFill>
                <a:schemeClr val="bg1"/>
              </a:solidFill>
              <a:latin typeface="Century Gothic" panose="020B0502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DFD3C3C-2552-1DFB-7F1A-8A36A3835C10}"/>
              </a:ext>
            </a:extLst>
          </p:cNvPr>
          <p:cNvSpPr txBox="1"/>
          <p:nvPr/>
        </p:nvSpPr>
        <p:spPr>
          <a:xfrm>
            <a:off x="596536" y="1412771"/>
            <a:ext cx="3358554" cy="830997"/>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5.2 Overcurrent Fault &amp; Auto-Recovery</a:t>
            </a:r>
          </a:p>
        </p:txBody>
      </p:sp>
      <p:pic>
        <p:nvPicPr>
          <p:cNvPr id="11" name="Picture 10">
            <a:extLst>
              <a:ext uri="{FF2B5EF4-FFF2-40B4-BE49-F238E27FC236}">
                <a16:creationId xmlns:a16="http://schemas.microsoft.com/office/drawing/2014/main" id="{70E2A761-A620-9B3B-F710-0D207956FF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7688" y="1240410"/>
            <a:ext cx="7080203" cy="4936782"/>
          </a:xfrm>
          <a:prstGeom prst="rect">
            <a:avLst/>
          </a:prstGeom>
        </p:spPr>
      </p:pic>
      <p:sp>
        <p:nvSpPr>
          <p:cNvPr id="12" name="Left Brace 11">
            <a:extLst>
              <a:ext uri="{FF2B5EF4-FFF2-40B4-BE49-F238E27FC236}">
                <a16:creationId xmlns:a16="http://schemas.microsoft.com/office/drawing/2014/main" id="{A4A00C72-D8B0-8E54-6DEF-711AA0482E9A}"/>
              </a:ext>
            </a:extLst>
          </p:cNvPr>
          <p:cNvSpPr/>
          <p:nvPr/>
        </p:nvSpPr>
        <p:spPr>
          <a:xfrm rot="5400000">
            <a:off x="7792342" y="3380804"/>
            <a:ext cx="1167330" cy="2029146"/>
          </a:xfrm>
          <a:prstGeom prst="leftBrace">
            <a:avLst>
              <a:gd name="adj1" fmla="val 0"/>
              <a:gd name="adj2" fmla="val 50000"/>
            </a:avLst>
          </a:prstGeom>
          <a:ln w="57150" cap="flat" cmpd="sng" algn="ctr">
            <a:solidFill>
              <a:srgbClr val="00B05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2C3EF6BD-8A83-2F68-9BAC-1DFEC620B54C}"/>
              </a:ext>
            </a:extLst>
          </p:cNvPr>
          <p:cNvSpPr txBox="1"/>
          <p:nvPr/>
        </p:nvSpPr>
        <p:spPr>
          <a:xfrm>
            <a:off x="7173930" y="2987898"/>
            <a:ext cx="2404153" cy="584775"/>
          </a:xfrm>
          <a:prstGeom prst="rect">
            <a:avLst/>
          </a:prstGeom>
          <a:solidFill>
            <a:schemeClr val="bg1"/>
          </a:solidFill>
          <a:ln w="38100">
            <a:solidFill>
              <a:srgbClr val="00B050"/>
            </a:solidFill>
            <a:prstDash val="sysDash"/>
          </a:ln>
        </p:spPr>
        <p:txBody>
          <a:bodyPr wrap="square" rtlCol="0">
            <a:spAutoFit/>
          </a:bodyPr>
          <a:lstStyle/>
          <a:p>
            <a:pPr algn="ctr"/>
            <a:r>
              <a:rPr lang="en-US" sz="1600" dirty="0">
                <a:latin typeface="Arial" panose="020B0604020202020204" pitchFamily="34" charset="0"/>
                <a:cs typeface="Arial" panose="020B0604020202020204" pitchFamily="34" charset="0"/>
              </a:rPr>
              <a:t>Motor OFF (3.0s Auto-Recovery Delay)</a:t>
            </a:r>
          </a:p>
        </p:txBody>
      </p:sp>
      <p:sp>
        <p:nvSpPr>
          <p:cNvPr id="9" name="TextBox 8">
            <a:extLst>
              <a:ext uri="{FF2B5EF4-FFF2-40B4-BE49-F238E27FC236}">
                <a16:creationId xmlns:a16="http://schemas.microsoft.com/office/drawing/2014/main" id="{805CCBBC-7F7E-A72C-CD68-2ADE1C9A6B5E}"/>
              </a:ext>
            </a:extLst>
          </p:cNvPr>
          <p:cNvSpPr txBox="1"/>
          <p:nvPr/>
        </p:nvSpPr>
        <p:spPr>
          <a:xfrm>
            <a:off x="242808" y="5349377"/>
            <a:ext cx="4191855"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*Evaluated at Nominal Operating Temperature (T ≤ 80°C | </a:t>
            </a:r>
            <a:r>
              <a:rPr lang="en-US" dirty="0" err="1">
                <a:latin typeface="Arial" panose="020B0604020202020204" pitchFamily="34" charset="0"/>
                <a:cs typeface="Arial" panose="020B0604020202020204" pitchFamily="34" charset="0"/>
              </a:rPr>
              <a:t>Vtemp</a:t>
            </a:r>
            <a:r>
              <a:rPr lang="en-US" dirty="0">
                <a:latin typeface="Arial" panose="020B0604020202020204" pitchFamily="34" charset="0"/>
                <a:cs typeface="Arial" panose="020B0604020202020204" pitchFamily="34" charset="0"/>
              </a:rPr>
              <a:t> ≤ 0.8V)</a:t>
            </a:r>
          </a:p>
        </p:txBody>
      </p:sp>
    </p:spTree>
    <p:extLst>
      <p:ext uri="{BB962C8B-B14F-4D97-AF65-F5344CB8AC3E}">
        <p14:creationId xmlns:p14="http://schemas.microsoft.com/office/powerpoint/2010/main" val="3327462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F056-7D67-CDFC-58A7-0B5E6B1163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2DD31D-5383-DD03-28BC-99BDF5BBF842}"/>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3FA24197-DAB7-674C-B646-CB21DBFBF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B9C33F-4601-D7AD-D2CA-C030F285D89D}"/>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476C8689-6DC4-EB40-FD96-1DF4D8E798E4}"/>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16557AB-B064-5BDC-9E3E-74094C2BC0DB}"/>
              </a:ext>
            </a:extLst>
          </p:cNvPr>
          <p:cNvSpPr txBox="1"/>
          <p:nvPr/>
        </p:nvSpPr>
        <p:spPr>
          <a:xfrm>
            <a:off x="2448666" y="98527"/>
            <a:ext cx="8586627" cy="1446550"/>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5. </a:t>
            </a:r>
            <a:r>
              <a:rPr lang="en-US" sz="4400" b="1" kern="1200" dirty="0">
                <a:solidFill>
                  <a:schemeClr val="bg1"/>
                </a:solidFill>
                <a:effectLst/>
                <a:latin typeface="Century Gothic" panose="020B0502020202020204" pitchFamily="34" charset="0"/>
                <a:cs typeface="Arial" panose="020B0604020202020204" pitchFamily="34" charset="0"/>
              </a:rPr>
              <a:t>Analysis and Evaluation</a:t>
            </a:r>
            <a:endParaRPr lang="en-US" sz="4400" b="1" dirty="0">
              <a:solidFill>
                <a:schemeClr val="bg1"/>
              </a:solidFill>
              <a:effectLst/>
              <a:latin typeface="Century Gothic" panose="020B0502020202020204" pitchFamily="34" charset="0"/>
            </a:endParaRPr>
          </a:p>
          <a:p>
            <a:pPr algn="ctr"/>
            <a:endParaRPr lang="en-US" sz="4400" b="1" dirty="0">
              <a:solidFill>
                <a:schemeClr val="bg1"/>
              </a:solidFill>
              <a:latin typeface="Century Gothic" panose="020B0502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E390C40-7036-1848-8DFF-7BF1B490AAD5}"/>
              </a:ext>
            </a:extLst>
          </p:cNvPr>
          <p:cNvSpPr txBox="1"/>
          <p:nvPr/>
        </p:nvSpPr>
        <p:spPr>
          <a:xfrm>
            <a:off x="695005" y="1412771"/>
            <a:ext cx="6226138" cy="461665"/>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5.3 Pure Thermal Overload</a:t>
            </a:r>
          </a:p>
        </p:txBody>
      </p:sp>
      <p:pic>
        <p:nvPicPr>
          <p:cNvPr id="11" name="Picture 10">
            <a:extLst>
              <a:ext uri="{FF2B5EF4-FFF2-40B4-BE49-F238E27FC236}">
                <a16:creationId xmlns:a16="http://schemas.microsoft.com/office/drawing/2014/main" id="{C61D8EDC-E711-163F-0DD0-EE6C53FE5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201" y="1251061"/>
            <a:ext cx="6962515" cy="4837899"/>
          </a:xfrm>
          <a:prstGeom prst="rect">
            <a:avLst/>
          </a:prstGeom>
        </p:spPr>
      </p:pic>
      <p:pic>
        <p:nvPicPr>
          <p:cNvPr id="13" name="Picture 12">
            <a:extLst>
              <a:ext uri="{FF2B5EF4-FFF2-40B4-BE49-F238E27FC236}">
                <a16:creationId xmlns:a16="http://schemas.microsoft.com/office/drawing/2014/main" id="{2E207422-40F6-F81A-2D32-13B0070CD90B}"/>
              </a:ext>
            </a:extLst>
          </p:cNvPr>
          <p:cNvPicPr>
            <a:picLocks noChangeAspect="1"/>
          </p:cNvPicPr>
          <p:nvPr/>
        </p:nvPicPr>
        <p:blipFill>
          <a:blip r:embed="rId4"/>
          <a:stretch>
            <a:fillRect/>
          </a:stretch>
        </p:blipFill>
        <p:spPr>
          <a:xfrm>
            <a:off x="702695" y="2005072"/>
            <a:ext cx="1440003" cy="2351171"/>
          </a:xfrm>
          <a:prstGeom prst="rect">
            <a:avLst/>
          </a:prstGeom>
        </p:spPr>
      </p:pic>
      <p:sp>
        <p:nvSpPr>
          <p:cNvPr id="15" name="TextBox 14">
            <a:extLst>
              <a:ext uri="{FF2B5EF4-FFF2-40B4-BE49-F238E27FC236}">
                <a16:creationId xmlns:a16="http://schemas.microsoft.com/office/drawing/2014/main" id="{040975ED-1235-15F2-E5A1-B1D17B99D39B}"/>
              </a:ext>
            </a:extLst>
          </p:cNvPr>
          <p:cNvSpPr txBox="1"/>
          <p:nvPr/>
        </p:nvSpPr>
        <p:spPr>
          <a:xfrm>
            <a:off x="695005" y="5083311"/>
            <a:ext cx="3965825"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Evaluated under Pure Thermal Overload (T = 100°C | </a:t>
            </a:r>
            <a:r>
              <a:rPr lang="en-US" dirty="0" err="1">
                <a:latin typeface="Arial" panose="020B0604020202020204" pitchFamily="34" charset="0"/>
                <a:cs typeface="Arial" panose="020B0604020202020204" pitchFamily="34" charset="0"/>
              </a:rPr>
              <a:t>Vtemp</a:t>
            </a:r>
            <a:r>
              <a:rPr lang="en-US" dirty="0">
                <a:latin typeface="Arial" panose="020B0604020202020204" pitchFamily="34" charset="0"/>
                <a:cs typeface="Arial" panose="020B0604020202020204" pitchFamily="34" charset="0"/>
              </a:rPr>
              <a:t> = 1.0V, Continuous Load ≤ 10A)</a:t>
            </a:r>
          </a:p>
        </p:txBody>
      </p:sp>
    </p:spTree>
    <p:extLst>
      <p:ext uri="{BB962C8B-B14F-4D97-AF65-F5344CB8AC3E}">
        <p14:creationId xmlns:p14="http://schemas.microsoft.com/office/powerpoint/2010/main" val="3581930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AA950-E9A7-932F-BD11-6834C840E0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166474-E086-D503-4847-44ADA7F6E09D}"/>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6F80E7F4-5DF4-35CE-EB79-08D7C9B2C8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EAAE13A-2F81-A29D-71DF-183F0AE98DC2}"/>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43847C5C-C713-FD17-81D0-C976F800CF82}"/>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EB70A47-7408-D73F-B548-9F45878171BE}"/>
              </a:ext>
            </a:extLst>
          </p:cNvPr>
          <p:cNvSpPr txBox="1"/>
          <p:nvPr/>
        </p:nvSpPr>
        <p:spPr>
          <a:xfrm>
            <a:off x="2448666" y="98527"/>
            <a:ext cx="8586627" cy="1446550"/>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5. </a:t>
            </a:r>
            <a:r>
              <a:rPr lang="en-US" sz="4400" b="1" kern="1200" dirty="0">
                <a:solidFill>
                  <a:schemeClr val="bg1"/>
                </a:solidFill>
                <a:effectLst/>
                <a:latin typeface="Century Gothic" panose="020B0502020202020204" pitchFamily="34" charset="0"/>
                <a:cs typeface="Arial" panose="020B0604020202020204" pitchFamily="34" charset="0"/>
              </a:rPr>
              <a:t>Analysis and Evaluation</a:t>
            </a:r>
            <a:endParaRPr lang="en-US" sz="4400" b="1" dirty="0">
              <a:solidFill>
                <a:schemeClr val="bg1"/>
              </a:solidFill>
              <a:effectLst/>
              <a:latin typeface="Century Gothic" panose="020B0502020202020204" pitchFamily="34" charset="0"/>
            </a:endParaRPr>
          </a:p>
          <a:p>
            <a:pPr algn="ctr"/>
            <a:endParaRPr lang="en-US" sz="4400" b="1" dirty="0">
              <a:solidFill>
                <a:schemeClr val="bg1"/>
              </a:solidFill>
              <a:latin typeface="Century Gothic" panose="020B0502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0DD4B48-A6CF-268E-2111-D0A341DE70AF}"/>
              </a:ext>
            </a:extLst>
          </p:cNvPr>
          <p:cNvSpPr txBox="1"/>
          <p:nvPr/>
        </p:nvSpPr>
        <p:spPr>
          <a:xfrm>
            <a:off x="750648" y="1354735"/>
            <a:ext cx="4150125" cy="830997"/>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5.4 Combined Stress Aggregation (Load + Temp)</a:t>
            </a:r>
          </a:p>
        </p:txBody>
      </p:sp>
      <p:pic>
        <p:nvPicPr>
          <p:cNvPr id="9" name="Picture 8">
            <a:extLst>
              <a:ext uri="{FF2B5EF4-FFF2-40B4-BE49-F238E27FC236}">
                <a16:creationId xmlns:a16="http://schemas.microsoft.com/office/drawing/2014/main" id="{9978F62B-9A2E-5674-D59D-4C7D879A7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660" y="1185624"/>
            <a:ext cx="7048071" cy="4939851"/>
          </a:xfrm>
          <a:prstGeom prst="rect">
            <a:avLst/>
          </a:prstGeom>
        </p:spPr>
      </p:pic>
    </p:spTree>
    <p:extLst>
      <p:ext uri="{BB962C8B-B14F-4D97-AF65-F5344CB8AC3E}">
        <p14:creationId xmlns:p14="http://schemas.microsoft.com/office/powerpoint/2010/main" val="2272075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756D3-69AB-36E6-90E9-B23BD5B3A1F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6E7AF57-AFF7-F57A-88BC-71D3A76ACE53}"/>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0A90C1A2-4E84-0FA8-44F4-EDD9F35B48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2171096-C666-D516-342F-079A4BFC3593}"/>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612D9C55-C093-897C-1ED7-CDD58F13945B}"/>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B2D4BAA-6E7A-01AE-4862-7506DE546CE1}"/>
              </a:ext>
            </a:extLst>
          </p:cNvPr>
          <p:cNvSpPr txBox="1"/>
          <p:nvPr/>
        </p:nvSpPr>
        <p:spPr>
          <a:xfrm>
            <a:off x="2448666" y="98527"/>
            <a:ext cx="8586627" cy="1446550"/>
          </a:xfrm>
          <a:prstGeom prst="rect">
            <a:avLst/>
          </a:prstGeom>
          <a:noFill/>
        </p:spPr>
        <p:txBody>
          <a:bodyPr wrap="square" rtlCol="0">
            <a:spAutoFit/>
          </a:bodyPr>
          <a:lstStyle/>
          <a:p>
            <a:pPr algn="ctr"/>
            <a:r>
              <a:rPr lang="en-US" sz="4400" b="1" dirty="0">
                <a:solidFill>
                  <a:schemeClr val="bg1"/>
                </a:solidFill>
                <a:latin typeface="Century Gothic" panose="020B0502020202020204" pitchFamily="34" charset="0"/>
                <a:cs typeface="Arial" panose="020B0604020202020204" pitchFamily="34" charset="0"/>
              </a:rPr>
              <a:t>5. </a:t>
            </a:r>
            <a:r>
              <a:rPr lang="en-US" sz="4400" b="1" kern="1200" dirty="0">
                <a:solidFill>
                  <a:schemeClr val="bg1"/>
                </a:solidFill>
                <a:effectLst/>
                <a:latin typeface="Century Gothic" panose="020B0502020202020204" pitchFamily="34" charset="0"/>
                <a:cs typeface="Arial" panose="020B0604020202020204" pitchFamily="34" charset="0"/>
              </a:rPr>
              <a:t>Analysis and Evaluation</a:t>
            </a:r>
            <a:endParaRPr lang="en-US" sz="4400" b="1" dirty="0">
              <a:solidFill>
                <a:schemeClr val="bg1"/>
              </a:solidFill>
              <a:effectLst/>
              <a:latin typeface="Century Gothic" panose="020B0502020202020204" pitchFamily="34" charset="0"/>
            </a:endParaRPr>
          </a:p>
          <a:p>
            <a:pPr algn="ctr"/>
            <a:endParaRPr lang="en-US" sz="4400" b="1" dirty="0">
              <a:solidFill>
                <a:schemeClr val="bg1"/>
              </a:solidFill>
              <a:latin typeface="Century Gothic" panose="020B0502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055BEFD-F960-C86B-B104-717AE5FAA519}"/>
              </a:ext>
            </a:extLst>
          </p:cNvPr>
          <p:cNvSpPr txBox="1"/>
          <p:nvPr/>
        </p:nvSpPr>
        <p:spPr>
          <a:xfrm>
            <a:off x="750648" y="1354735"/>
            <a:ext cx="4417253" cy="830997"/>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5.4 Combined Stress Aggregation (Load + Temp)</a:t>
            </a:r>
          </a:p>
        </p:txBody>
      </p:sp>
      <p:pic>
        <p:nvPicPr>
          <p:cNvPr id="11" name="Picture 10">
            <a:extLst>
              <a:ext uri="{FF2B5EF4-FFF2-40B4-BE49-F238E27FC236}">
                <a16:creationId xmlns:a16="http://schemas.microsoft.com/office/drawing/2014/main" id="{28578988-EFC8-32FA-BC97-5CB21DFAEF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0633" y="1213895"/>
            <a:ext cx="6926841" cy="4796026"/>
          </a:xfrm>
          <a:prstGeom prst="rect">
            <a:avLst/>
          </a:prstGeom>
        </p:spPr>
      </p:pic>
      <p:sp>
        <p:nvSpPr>
          <p:cNvPr id="10" name="TextBox 9">
            <a:extLst>
              <a:ext uri="{FF2B5EF4-FFF2-40B4-BE49-F238E27FC236}">
                <a16:creationId xmlns:a16="http://schemas.microsoft.com/office/drawing/2014/main" id="{E25B6ABE-0A47-90CE-B740-A9D35730CC8C}"/>
              </a:ext>
            </a:extLst>
          </p:cNvPr>
          <p:cNvSpPr txBox="1"/>
          <p:nvPr/>
        </p:nvSpPr>
        <p:spPr>
          <a:xfrm>
            <a:off x="750648" y="4504558"/>
            <a:ext cx="3560865" cy="923330"/>
          </a:xfrm>
          <a:prstGeom prst="rect">
            <a:avLst/>
          </a:prstGeom>
          <a:noFill/>
          <a:ln>
            <a:solidFill>
              <a:srgbClr val="C00000"/>
            </a:solidFill>
          </a:ln>
        </p:spPr>
        <p:txBody>
          <a:bodyPr wrap="square">
            <a:spAutoFit/>
          </a:bodyPr>
          <a:lstStyle/>
          <a:p>
            <a:pPr algn="ctr"/>
            <a:r>
              <a:rPr lang="en-US" dirty="0">
                <a:latin typeface="Arial" panose="020B0604020202020204" pitchFamily="34" charset="0"/>
                <a:cs typeface="Arial" panose="020B0604020202020204" pitchFamily="34" charset="0"/>
              </a:rPr>
              <a:t>Continuous temperature rise from t = 2.0s triggers a motor shutdown</a:t>
            </a:r>
          </a:p>
        </p:txBody>
      </p:sp>
    </p:spTree>
    <p:extLst>
      <p:ext uri="{BB962C8B-B14F-4D97-AF65-F5344CB8AC3E}">
        <p14:creationId xmlns:p14="http://schemas.microsoft.com/office/powerpoint/2010/main" val="793455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A7851-E518-CD14-A65B-8D640B6FFB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10AB9A-190D-E82F-1902-AF17363F69B5}"/>
              </a:ext>
            </a:extLst>
          </p:cNvPr>
          <p:cNvSpPr/>
          <p:nvPr/>
        </p:nvSpPr>
        <p:spPr>
          <a:xfrm>
            <a:off x="0" y="6278383"/>
            <a:ext cx="12192000" cy="57961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BUET White Icon. Bangladesh University of Engineering and Technology Logo on Transparent Background. png">
            <a:extLst>
              <a:ext uri="{FF2B5EF4-FFF2-40B4-BE49-F238E27FC236}">
                <a16:creationId xmlns:a16="http://schemas.microsoft.com/office/drawing/2014/main" id="{32FA8934-883D-A1FF-532C-32AFA65558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14" y="6278383"/>
            <a:ext cx="562070" cy="5620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D1C3404-8E73-B7B8-F63D-02151B45BBCE}"/>
              </a:ext>
            </a:extLst>
          </p:cNvPr>
          <p:cNvSpPr txBox="1"/>
          <p:nvPr/>
        </p:nvSpPr>
        <p:spPr>
          <a:xfrm>
            <a:off x="1031683" y="6359363"/>
            <a:ext cx="11420595"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EEE 208 (2026) – Final Project Group:- 02 | </a:t>
            </a:r>
            <a:r>
              <a:rPr lang="en-US" sz="2000" i="0" u="none" strike="noStrike" baseline="0" dirty="0">
                <a:solidFill>
                  <a:schemeClr val="bg1"/>
                </a:solidFill>
                <a:latin typeface="Arial" panose="020B0604020202020204" pitchFamily="34" charset="0"/>
                <a:cs typeface="Arial" panose="020B0604020202020204" pitchFamily="34" charset="0"/>
              </a:rPr>
              <a:t>Intelligent Analog Motor Protection Controller</a:t>
            </a:r>
            <a:r>
              <a:rPr lang="en-US" sz="2000" dirty="0">
                <a:solidFill>
                  <a:schemeClr val="bg1"/>
                </a:solidFill>
                <a:latin typeface="Arial" panose="020B0604020202020204" pitchFamily="34" charset="0"/>
                <a:cs typeface="Arial" panose="020B0604020202020204" pitchFamily="34" charset="0"/>
              </a:rPr>
              <a:t> </a:t>
            </a:r>
          </a:p>
        </p:txBody>
      </p:sp>
      <p:sp>
        <p:nvSpPr>
          <p:cNvPr id="4" name="Rectangle 3">
            <a:extLst>
              <a:ext uri="{FF2B5EF4-FFF2-40B4-BE49-F238E27FC236}">
                <a16:creationId xmlns:a16="http://schemas.microsoft.com/office/drawing/2014/main" id="{5130328C-474E-8E6F-1692-B04874821E90}"/>
              </a:ext>
            </a:extLst>
          </p:cNvPr>
          <p:cNvSpPr/>
          <p:nvPr/>
        </p:nvSpPr>
        <p:spPr>
          <a:xfrm>
            <a:off x="0" y="0"/>
            <a:ext cx="12192000" cy="10582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entury Gothic" panose="020B0502020202020204" pitchFamily="34" charset="0"/>
              </a:rPr>
              <a:t>6. References</a:t>
            </a:r>
          </a:p>
        </p:txBody>
      </p:sp>
      <p:sp>
        <p:nvSpPr>
          <p:cNvPr id="7" name="TextBox 6">
            <a:extLst>
              <a:ext uri="{FF2B5EF4-FFF2-40B4-BE49-F238E27FC236}">
                <a16:creationId xmlns:a16="http://schemas.microsoft.com/office/drawing/2014/main" id="{14425FF6-052B-7431-B53A-7223BBB1502F}"/>
              </a:ext>
            </a:extLst>
          </p:cNvPr>
          <p:cNvSpPr txBox="1"/>
          <p:nvPr/>
        </p:nvSpPr>
        <p:spPr>
          <a:xfrm>
            <a:off x="594506" y="1565270"/>
            <a:ext cx="11002987" cy="1938992"/>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[1] R. L. </a:t>
            </a:r>
            <a:r>
              <a:rPr lang="en-US" sz="2400" dirty="0" err="1">
                <a:latin typeface="Arial" panose="020B0604020202020204" pitchFamily="34" charset="0"/>
                <a:cs typeface="Arial" panose="020B0604020202020204" pitchFamily="34" charset="0"/>
              </a:rPr>
              <a:t>Boylestad</a:t>
            </a:r>
            <a:r>
              <a:rPr lang="en-US" sz="2400" dirty="0">
                <a:latin typeface="Arial" panose="020B0604020202020204" pitchFamily="34" charset="0"/>
                <a:cs typeface="Arial" panose="020B0604020202020204" pitchFamily="34" charset="0"/>
              </a:rPr>
              <a:t> and L. </a:t>
            </a:r>
            <a:r>
              <a:rPr lang="en-US" sz="2400" dirty="0" err="1">
                <a:latin typeface="Arial" panose="020B0604020202020204" pitchFamily="34" charset="0"/>
                <a:cs typeface="Arial" panose="020B0604020202020204" pitchFamily="34" charset="0"/>
              </a:rPr>
              <a:t>Nashelsky</a:t>
            </a:r>
            <a:r>
              <a:rPr lang="en-US" sz="2400" dirty="0">
                <a:latin typeface="Arial" panose="020B0604020202020204" pitchFamily="34" charset="0"/>
                <a:cs typeface="Arial" panose="020B0604020202020204" pitchFamily="34" charset="0"/>
              </a:rPr>
              <a:t>, Electronic Devices and Circuit Theory, 11th ed. Upper Saddle River, NJ: Pearson, 2012.</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[2] A. S. </a:t>
            </a:r>
            <a:r>
              <a:rPr lang="en-US" sz="2400" dirty="0" err="1">
                <a:latin typeface="Arial" panose="020B0604020202020204" pitchFamily="34" charset="0"/>
                <a:cs typeface="Arial" panose="020B0604020202020204" pitchFamily="34" charset="0"/>
              </a:rPr>
              <a:t>Sedra</a:t>
            </a:r>
            <a:r>
              <a:rPr lang="en-US" sz="2400" dirty="0">
                <a:latin typeface="Arial" panose="020B0604020202020204" pitchFamily="34" charset="0"/>
                <a:cs typeface="Arial" panose="020B0604020202020204" pitchFamily="34" charset="0"/>
              </a:rPr>
              <a:t> and K. C. Smith, Microelectronic Circuits, 7th ed. New York, NY: Oxford University Press, 2015.</a:t>
            </a:r>
          </a:p>
        </p:txBody>
      </p:sp>
    </p:spTree>
    <p:extLst>
      <p:ext uri="{BB962C8B-B14F-4D97-AF65-F5344CB8AC3E}">
        <p14:creationId xmlns:p14="http://schemas.microsoft.com/office/powerpoint/2010/main" val="2362637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65CBE-B248-75AB-CBBF-F594A592C7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B18C05-2119-4738-8E02-5BEA7CA5B2D8}"/>
              </a:ext>
            </a:extLst>
          </p:cNvPr>
          <p:cNvSpPr txBox="1"/>
          <p:nvPr/>
        </p:nvSpPr>
        <p:spPr>
          <a:xfrm>
            <a:off x="3583969" y="2105561"/>
            <a:ext cx="5024061" cy="1323439"/>
          </a:xfrm>
          <a:prstGeom prst="rect">
            <a:avLst/>
          </a:prstGeom>
          <a:noFill/>
        </p:spPr>
        <p:txBody>
          <a:bodyPr wrap="square" rtlCol="0">
            <a:spAutoFit/>
          </a:bodyPr>
          <a:lstStyle/>
          <a:p>
            <a:r>
              <a:rPr lang="en-US" sz="8000" dirty="0">
                <a:latin typeface="Century Gothic" panose="020B0502020202020204" pitchFamily="34" charset="0"/>
              </a:rPr>
              <a:t>T</a:t>
            </a:r>
            <a:r>
              <a:rPr lang="en-US" sz="6600" dirty="0">
                <a:latin typeface="Century Gothic" panose="020B0502020202020204" pitchFamily="34" charset="0"/>
              </a:rPr>
              <a:t>hank </a:t>
            </a:r>
            <a:r>
              <a:rPr lang="en-US" sz="8000" dirty="0">
                <a:latin typeface="Century Gothic" panose="020B0502020202020204" pitchFamily="34" charset="0"/>
              </a:rPr>
              <a:t>Y</a:t>
            </a:r>
            <a:r>
              <a:rPr lang="en-US" sz="6600" dirty="0">
                <a:latin typeface="Century Gothic" panose="020B0502020202020204" pitchFamily="34" charset="0"/>
              </a:rPr>
              <a:t>ou!</a:t>
            </a:r>
          </a:p>
        </p:txBody>
      </p:sp>
    </p:spTree>
    <p:extLst>
      <p:ext uri="{BB962C8B-B14F-4D97-AF65-F5344CB8AC3E}">
        <p14:creationId xmlns:p14="http://schemas.microsoft.com/office/powerpoint/2010/main" val="3751520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1840</Words>
  <Application>Microsoft Office PowerPoint</Application>
  <PresentationFormat>Widescreen</PresentationFormat>
  <Paragraphs>197</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Century Gothic</vt:lpstr>
      <vt:lpstr>Century Gothic (body)</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2306143 - Mujaddid</dc:creator>
  <cp:lastModifiedBy>2306143 - Mujaddid</cp:lastModifiedBy>
  <cp:revision>42</cp:revision>
  <dcterms:created xsi:type="dcterms:W3CDTF">2026-09-16T14:28:29Z</dcterms:created>
  <dcterms:modified xsi:type="dcterms:W3CDTF">2026-09-18T10:43:35Z</dcterms:modified>
</cp:coreProperties>
</file>